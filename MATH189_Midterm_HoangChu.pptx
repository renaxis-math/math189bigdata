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59" r:id="rId6"/>
    <p:sldId id="262" r:id="rId7"/>
    <p:sldId id="263" r:id="rId8"/>
    <p:sldId id="264" r:id="rId9"/>
    <p:sldId id="265" r:id="rId10"/>
    <p:sldId id="269" r:id="rId11"/>
    <p:sldId id="272" r:id="rId12"/>
    <p:sldId id="270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78"/>
    <a:srgbClr val="C1C1C1"/>
    <a:srgbClr val="521B93"/>
    <a:srgbClr val="FF2F92"/>
    <a:srgbClr val="C9C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117341-C556-44E9-9ECB-F68AB0BC0B78}" v="119" dt="2023-12-07T18:09:13.93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8"/>
    <p:restoredTop sz="94623"/>
  </p:normalViewPr>
  <p:slideViewPr>
    <p:cSldViewPr snapToGrid="0">
      <p:cViewPr varScale="1">
        <p:scale>
          <a:sx n="42" d="100"/>
          <a:sy n="42" d="100"/>
        </p:scale>
        <p:origin x="10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000" spc="-29">
                <a:latin typeface="Graphik-Medium"/>
                <a:ea typeface="Graphik-Medium"/>
                <a:cs typeface="Graphik-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-SemiboldItalic"/>
                <a:ea typeface="Graphik-SemiboldItalic"/>
                <a:cs typeface="Graphik-SemiboldItalic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-SemiboldItalic"/>
                <a:ea typeface="Graphik-SemiboldItalic"/>
                <a:cs typeface="Graphik-SemiboldItalic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-SemiboldItalic"/>
                <a:ea typeface="Graphik-SemiboldItalic"/>
                <a:cs typeface="Graphik-SemiboldItalic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-SemiboldItalic"/>
                <a:ea typeface="Graphik-SemiboldItalic"/>
                <a:cs typeface="Graphik-SemiboldItalic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-SemiboldItalic"/>
                <a:ea typeface="Graphik-SemiboldItalic"/>
                <a:cs typeface="Graphik-SemiboldItalic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000" spc="-29">
                <a:solidFill>
                  <a:srgbClr val="FFFFFF"/>
                </a:solidFill>
                <a:latin typeface="Graphik-Medium"/>
                <a:ea typeface="Graphik-Medium"/>
                <a:cs typeface="Graphik-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Sea against sky at sunset"/>
          <p:cNvSpPr>
            <a:spLocks noGrp="1"/>
          </p:cNvSpPr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1" name="Sea against sky at sunset"/>
          <p:cNvSpPr>
            <a:spLocks noGrp="1"/>
          </p:cNvSpPr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z="12800" spc="0"/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Agenda Subtitle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-SemiboldItalic"/>
                <a:ea typeface="Graphik-SemiboldItalic"/>
                <a:cs typeface="Graphik-SemiboldItalic"/>
                <a:sym typeface="Graphik Semibold"/>
              </a:defRPr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>
            <a:spLocks noGrp="1"/>
          </p:cNvSpPr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Sea against sky at sunset 1"/>
          <p:cNvSpPr>
            <a:spLocks noGrp="1"/>
          </p:cNvSpPr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each and sea at sunset"/>
          <p:cNvSpPr>
            <a:spLocks noGrp="1"/>
          </p:cNvSpPr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>
            <a:spLocks noGrp="1"/>
          </p:cNvSpPr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cargurus.com/Cars/spt_used_cars" TargetMode="External"/><Relationship Id="rId2" Type="http://schemas.openxmlformats.org/officeDocument/2006/relationships/hyperlink" Target="https://www.kaggle.com/datasets/ananaymital/us-used-cars-dataset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odecogs.com/eqnedit.php?latex=%5Chat%7B%5Cbeta%7D%20%3D%20(y%5ETx%20-%20%5Clambda)%2F(x%5ETx)#0" TargetMode="External"/><Relationship Id="rId13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hyperlink" Target="https://www.codecogs.com/eqnedit.php?latex=%5Chat%7B%5Cbeta%7D%20%3D%20(y%5ETx%20%2B%20%5Clambda)%2F(x%5ETx)#0" TargetMode="External"/><Relationship Id="rId2" Type="http://schemas.openxmlformats.org/officeDocument/2006/relationships/image" Target="../media/image14.png"/><Relationship Id="rId16" Type="http://schemas.openxmlformats.org/officeDocument/2006/relationships/image" Target="../media/image22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codecogs.com/eqnedit.php?latex=%5Chat%7B%5Cbeta%7D%20%3D%20y%5ETx%2F(x%5ETx%20%2B%20%5Clambda)#0" TargetMode="External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5" Type="http://schemas.openxmlformats.org/officeDocument/2006/relationships/image" Target="../media/image21.png"/><Relationship Id="rId10" Type="http://schemas.openxmlformats.org/officeDocument/2006/relationships/hyperlink" Target="https://www.codecogs.com/eqnedit.php?latex=%5Clambda%20%3C%3D%20y%5ETx#0" TargetMode="External"/><Relationship Id="rId4" Type="http://schemas.openxmlformats.org/officeDocument/2006/relationships/hyperlink" Target="https://www.codecogs.com/eqnedit.php?latex=-2y%5ETX%20%2B2X%5ETX%5Chat%7B%5Cbeta%7D%20%2B%202%5Clambda%5Chat%7B%5Cbeta%7D#0" TargetMode="External"/><Relationship Id="rId9" Type="http://schemas.openxmlformats.org/officeDocument/2006/relationships/image" Target="../media/image18.png"/><Relationship Id="rId14" Type="http://schemas.openxmlformats.org/officeDocument/2006/relationships/hyperlink" Target="https://www.codecogs.com/eqnedit.php?latex=%5Clambda%20%3E%3D%20y%5ETx#0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Hoang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904334"/>
                    <a:lumOff val="2953"/>
                  </a:schemeClr>
                </a:solidFill>
              </a:defRPr>
            </a:lvl1pPr>
          </a:lstStyle>
          <a:p>
            <a:r>
              <a:rPr dirty="0"/>
              <a:t>Hoang</a:t>
            </a:r>
          </a:p>
        </p:txBody>
      </p:sp>
      <p:sp>
        <p:nvSpPr>
          <p:cNvPr id="173" name="MATH158 Final Project"/>
          <p:cNvSpPr txBox="1">
            <a:spLocks noGrp="1"/>
          </p:cNvSpPr>
          <p:nvPr>
            <p:ph type="subTitle" sz="quarter" idx="1"/>
          </p:nvPr>
        </p:nvSpPr>
        <p:spPr>
          <a:xfrm>
            <a:off x="1219198" y="10860865"/>
            <a:ext cx="21945601" cy="225059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79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Midterm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2E057-9AE2-CD77-B7F8-C88AF53715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2024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23-zing.jpg" descr="23-zing.jp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285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Used Car Value Prediction"/>
          <p:cNvSpPr txBox="1">
            <a:spLocks noGrp="1"/>
          </p:cNvSpPr>
          <p:nvPr>
            <p:ph type="title"/>
          </p:nvPr>
        </p:nvSpPr>
        <p:spPr>
          <a:xfrm>
            <a:off x="1219200" y="774700"/>
            <a:ext cx="21945600" cy="117602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Predicting </a:t>
            </a:r>
            <a:r>
              <a:rPr dirty="0"/>
              <a:t>Used</a:t>
            </a:r>
            <a:r>
              <a:rPr lang="en-US" dirty="0"/>
              <a:t> 🚙 </a:t>
            </a:r>
            <a:r>
              <a:rPr dirty="0"/>
              <a:t>Value</a:t>
            </a:r>
          </a:p>
        </p:txBody>
      </p:sp>
      <p:sp>
        <p:nvSpPr>
          <p:cNvPr id="178" name="3,000,000 observations…"/>
          <p:cNvSpPr txBox="1">
            <a:spLocks noGrp="1"/>
          </p:cNvSpPr>
          <p:nvPr>
            <p:ph type="body" idx="1"/>
          </p:nvPr>
        </p:nvSpPr>
        <p:spPr>
          <a:xfrm>
            <a:off x="1216223" y="3191159"/>
            <a:ext cx="21948577" cy="8483600"/>
          </a:xfrm>
          <a:prstGeom prst="rect">
            <a:avLst/>
          </a:prstGeom>
        </p:spPr>
        <p:txBody>
          <a:bodyPr lIns="50800" tIns="50800" rIns="50800" bIns="50800" anchor="t">
            <a:normAutofit fontScale="92500" lnSpcReduction="20000"/>
          </a:bodyPr>
          <a:lstStyle/>
          <a:p>
            <a:r>
              <a:rPr dirty="0"/>
              <a:t>3,000,000 observations</a:t>
            </a:r>
            <a:r>
              <a:rPr lang="en-US" dirty="0"/>
              <a:t> from (</a:t>
            </a:r>
            <a:r>
              <a:rPr lang="en-US" dirty="0">
                <a:hlinkClick r:id="rId2"/>
              </a:rPr>
              <a:t>kaggle.com/us-used-cars-dataset</a:t>
            </a:r>
            <a:r>
              <a:rPr lang="en-US" dirty="0"/>
              <a:t>) – 10GB.</a:t>
            </a:r>
            <a:endParaRPr dirty="0"/>
          </a:p>
          <a:p>
            <a:r>
              <a:rPr dirty="0"/>
              <a:t>66 features, </a:t>
            </a:r>
            <a:r>
              <a:rPr lang="en-US" dirty="0"/>
              <a:t>half</a:t>
            </a:r>
            <a:r>
              <a:rPr dirty="0"/>
              <a:t> of them </a:t>
            </a:r>
            <a:r>
              <a:rPr u="sng" dirty="0"/>
              <a:t>have no descriptions</a:t>
            </a:r>
            <a:r>
              <a:rPr lang="en-US" u="sng" dirty="0"/>
              <a:t> in metadata</a:t>
            </a:r>
            <a:r>
              <a:rPr dirty="0"/>
              <a:t>.</a:t>
            </a:r>
            <a:endParaRPr lang="en-US" dirty="0"/>
          </a:p>
          <a:p>
            <a:r>
              <a:rPr lang="en-US" dirty="0"/>
              <a:t>Crawled on </a:t>
            </a:r>
            <a:r>
              <a:rPr lang="en-US" dirty="0">
                <a:hlinkClick r:id="rId3"/>
              </a:rPr>
              <a:t>cargurus.com</a:t>
            </a:r>
            <a:r>
              <a:rPr lang="en-US" dirty="0"/>
              <a:t> in September 2020 -&gt; submissions are </a:t>
            </a:r>
            <a:r>
              <a:rPr lang="en-US" dirty="0">
                <a:solidFill>
                  <a:schemeClr val="accent4"/>
                </a:solidFill>
              </a:rPr>
              <a:t>independent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Diverse data types: text, number, Nan</a:t>
            </a:r>
          </a:p>
          <a:p>
            <a:r>
              <a:rPr lang="en-US" dirty="0">
                <a:solidFill>
                  <a:schemeClr val="tx1"/>
                </a:solidFill>
              </a:rPr>
              <a:t>Metric: custom Mean Absolute Error, where: 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under-prediction will * 1.2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over-prediction will * 0.8</a:t>
            </a:r>
          </a:p>
          <a:p>
            <a:pPr marL="0" indent="0">
              <a:buNone/>
            </a:pPr>
            <a:endParaRPr lang="en-US" dirty="0">
              <a:solidFill>
                <a:schemeClr val="accent3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3"/>
                </a:solidFill>
              </a:rPr>
              <a:t>=&gt; Motivation Questions: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1. What features should be used for prediction?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2. How well will my prediction be </a:t>
            </a:r>
            <a:r>
              <a:rPr lang="en-US" dirty="0">
                <a:solidFill>
                  <a:schemeClr val="accent5"/>
                </a:solidFill>
              </a:rPr>
              <a:t>without knowing any feature descriptions</a:t>
            </a:r>
            <a:r>
              <a:rPr lang="en-US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79" name="What’s the maximum price my used car could be sold?"/>
          <p:cNvSpPr txBox="1">
            <a:spLocks noGrp="1"/>
          </p:cNvSpPr>
          <p:nvPr>
            <p:ph type="body" idx="21"/>
          </p:nvPr>
        </p:nvSpPr>
        <p:spPr>
          <a:xfrm>
            <a:off x="1219199" y="2041241"/>
            <a:ext cx="21945602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>
                <a:solidFill>
                  <a:schemeClr val="accent5"/>
                </a:solidFill>
              </a:rPr>
              <a:t>What’s the maximum </a:t>
            </a:r>
            <a:r>
              <a:rPr lang="en-US" dirty="0">
                <a:solidFill>
                  <a:schemeClr val="accent5"/>
                </a:solidFill>
              </a:rPr>
              <a:t>listing price</a:t>
            </a:r>
            <a:r>
              <a:rPr dirty="0">
                <a:solidFill>
                  <a:schemeClr val="accent5"/>
                </a:solidFill>
              </a:rPr>
              <a:t> my used car could be sold?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A0B5-271F-E7CB-0BBC-514E171D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945600" cy="100238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Explore Data: getting started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09395-1FE2-E933-6062-14C19F5CA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04469"/>
            <a:ext cx="24384000" cy="12411528"/>
          </a:xfrm>
        </p:spPr>
        <p:txBody>
          <a:bodyPr>
            <a:normAutofit lnSpcReduction="10000"/>
          </a:bodyPr>
          <a:lstStyle/>
          <a:p>
            <a:r>
              <a:rPr lang="en-US" sz="3500" dirty="0"/>
              <a:t>What’s my response column name? “price”.</a:t>
            </a:r>
          </a:p>
          <a:p>
            <a:pPr marL="0" indent="0">
              <a:buNone/>
            </a:pPr>
            <a:r>
              <a:rPr lang="en-US" sz="3500" dirty="0"/>
              <a:t>=&gt; X: DataFrame without column ‘price’.</a:t>
            </a:r>
          </a:p>
          <a:p>
            <a:pPr marL="0" indent="0">
              <a:buNone/>
            </a:pPr>
            <a:r>
              <a:rPr lang="en-US" sz="3500" dirty="0"/>
              <a:t>      y: Column ‘price’ and nothing else.</a:t>
            </a:r>
          </a:p>
          <a:p>
            <a:pPr marL="0" indent="0">
              <a:buNone/>
            </a:pPr>
            <a:endParaRPr lang="en-US" sz="3500" dirty="0"/>
          </a:p>
          <a:p>
            <a:r>
              <a:rPr lang="en-US" sz="3500" dirty="0"/>
              <a:t>Do I want an intercept </a:t>
            </a:r>
            <a:r>
              <a:rPr lang="el-GR" sz="3500" dirty="0"/>
              <a:t>β₀</a:t>
            </a:r>
            <a:r>
              <a:rPr lang="en-US" sz="3500" dirty="0"/>
              <a:t>?</a:t>
            </a:r>
          </a:p>
          <a:p>
            <a:pPr marL="0" indent="0">
              <a:buNone/>
            </a:pPr>
            <a:r>
              <a:rPr lang="en-US" sz="3500" dirty="0"/>
              <a:t>&lt;= Are there rows where all features’ values being zero(s) ? </a:t>
            </a:r>
          </a:p>
          <a:p>
            <a:pPr marL="0" indent="0">
              <a:buNone/>
            </a:pPr>
            <a:r>
              <a:rPr lang="en-US" sz="3500" dirty="0"/>
              <a:t>=&gt; YES</a:t>
            </a:r>
          </a:p>
          <a:p>
            <a:pPr marL="0" indent="0">
              <a:buNone/>
            </a:pPr>
            <a:r>
              <a:rPr lang="en-US" sz="3500" dirty="0"/>
              <a:t>=&gt; X: DataFrame without column ‘price’ and </a:t>
            </a:r>
            <a:r>
              <a:rPr lang="en-US" sz="3500" u="sng" dirty="0"/>
              <a:t>has a column full of 1’s</a:t>
            </a:r>
            <a:r>
              <a:rPr lang="en-US" sz="3500" dirty="0"/>
              <a:t>.</a:t>
            </a:r>
          </a:p>
          <a:p>
            <a:pPr marL="0" indent="0">
              <a:buNone/>
            </a:pPr>
            <a:endParaRPr lang="en-US" sz="3500" dirty="0"/>
          </a:p>
          <a:p>
            <a:r>
              <a:rPr lang="en-US" sz="3500" dirty="0"/>
              <a:t>Do I want duplicating rows / columns ?</a:t>
            </a:r>
          </a:p>
          <a:p>
            <a:pPr marL="0" indent="0">
              <a:buNone/>
            </a:pPr>
            <a:r>
              <a:rPr lang="en-US" sz="3500" dirty="0"/>
              <a:t>&lt;= Will duplicating rows / columns affect regression coefficients? No.</a:t>
            </a:r>
          </a:p>
          <a:p>
            <a:pPr marL="0" indent="0">
              <a:buNone/>
            </a:pPr>
            <a:r>
              <a:rPr lang="en-US" sz="3500" dirty="0"/>
              <a:t>&lt;= Will duplicating rows / columns invalidate regression assumptions? Yes (multi-collinearity).</a:t>
            </a:r>
          </a:p>
          <a:p>
            <a:pPr marL="0" indent="0">
              <a:buNone/>
            </a:pPr>
            <a:r>
              <a:rPr lang="en-US" sz="3500" dirty="0"/>
              <a:t>=&gt; NO, remove them.</a:t>
            </a:r>
          </a:p>
          <a:p>
            <a:pPr marL="0" indent="0">
              <a:buNone/>
            </a:pPr>
            <a:endParaRPr lang="en-US" sz="3500" dirty="0"/>
          </a:p>
          <a:p>
            <a:r>
              <a:rPr lang="en-US" sz="3500" dirty="0"/>
              <a:t>How do I split the data?</a:t>
            </a:r>
          </a:p>
          <a:p>
            <a:pPr marL="0" indent="0">
              <a:buNone/>
            </a:pPr>
            <a:r>
              <a:rPr lang="en-US" sz="3500" dirty="0"/>
              <a:t>=&gt; Just split as usual (80% </a:t>
            </a:r>
            <a:r>
              <a:rPr lang="en-US" sz="3500" dirty="0" err="1"/>
              <a:t>X_train</a:t>
            </a:r>
            <a:r>
              <a:rPr lang="en-US" sz="3500" dirty="0"/>
              <a:t>, </a:t>
            </a:r>
            <a:r>
              <a:rPr lang="en-US" sz="3500" dirty="0" err="1"/>
              <a:t>y_train</a:t>
            </a:r>
            <a:r>
              <a:rPr lang="en-US" sz="3500" dirty="0"/>
              <a:t>; 20% </a:t>
            </a:r>
            <a:r>
              <a:rPr lang="en-US" sz="3500" dirty="0" err="1"/>
              <a:t>X_test</a:t>
            </a:r>
            <a:r>
              <a:rPr lang="en-US" sz="3500" dirty="0"/>
              <a:t>, </a:t>
            </a:r>
            <a:r>
              <a:rPr lang="en-US" sz="3500" dirty="0" err="1"/>
              <a:t>y_test</a:t>
            </a:r>
            <a:r>
              <a:rPr lang="en-US" sz="3500" dirty="0"/>
              <a:t>)</a:t>
            </a:r>
          </a:p>
          <a:p>
            <a:pPr marL="0" indent="0" algn="r">
              <a:buNone/>
            </a:pPr>
            <a:r>
              <a:rPr lang="en-US" sz="1500" dirty="0"/>
              <a:t>(because I forgot to split train-valid-test)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53927-AAF5-2744-50C3-A7D5B0709DBF}"/>
              </a:ext>
            </a:extLst>
          </p:cNvPr>
          <p:cNvCxnSpPr/>
          <p:nvPr/>
        </p:nvCxnSpPr>
        <p:spPr>
          <a:xfrm>
            <a:off x="0" y="1002380"/>
            <a:ext cx="2438400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B2F65DC-1812-22C9-52AA-D5DCDD3C5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4409862"/>
            <a:ext cx="10454868" cy="100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8256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A0B5-271F-E7CB-0BBC-514E171D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945600" cy="100238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Explore Data: welcoming “ the null”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09395-1FE2-E933-6062-14C19F5CA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04469"/>
            <a:ext cx="24384000" cy="12411528"/>
          </a:xfrm>
        </p:spPr>
        <p:txBody>
          <a:bodyPr/>
          <a:lstStyle/>
          <a:p>
            <a:r>
              <a:rPr lang="en-US" dirty="0"/>
              <a:t>Remove ”massive null” columns having 20%+ (600,000+) missing observations.</a:t>
            </a:r>
          </a:p>
          <a:p>
            <a:r>
              <a:rPr lang="en-US" dirty="0"/>
              <a:t>Impute “small null” columns: based on the distribution of a column</a:t>
            </a:r>
          </a:p>
          <a:p>
            <a:pPr lvl="1"/>
            <a:r>
              <a:rPr lang="en-US" dirty="0"/>
              <a:t>If this:		 =&gt; Impute mean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If that:		 =&gt; Impute median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Else:			=&gt; Impute mode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53927-AAF5-2744-50C3-A7D5B0709DBF}"/>
              </a:ext>
            </a:extLst>
          </p:cNvPr>
          <p:cNvCxnSpPr/>
          <p:nvPr/>
        </p:nvCxnSpPr>
        <p:spPr>
          <a:xfrm>
            <a:off x="0" y="1002380"/>
            <a:ext cx="2438400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E8B7321-BEE1-3E52-DDD5-9D17BC9EE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2969086"/>
            <a:ext cx="4381500" cy="3467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D49219-2B2B-893B-935C-F5402F9E2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830" y="6436186"/>
            <a:ext cx="45720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3411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A0B5-271F-E7CB-0BBC-514E171D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945600" cy="100238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Explore Data: translating “the text”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09395-1FE2-E933-6062-14C19F5CA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04469"/>
            <a:ext cx="24384000" cy="124115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00" dirty="0"/>
              <a:t>			    </a:t>
            </a:r>
          </a:p>
          <a:p>
            <a:pPr marL="0" indent="0" algn="ctr">
              <a:buNone/>
            </a:pPr>
            <a:r>
              <a:rPr lang="en-US" dirty="0"/>
              <a:t>👉         </a:t>
            </a:r>
          </a:p>
          <a:p>
            <a:pPr marL="0" indent="0">
              <a:buNone/>
            </a:pPr>
            <a:r>
              <a:rPr lang="en-US" sz="100" dirty="0"/>
              <a:t>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sz="100" dirty="0"/>
              <a:t>				</a:t>
            </a:r>
          </a:p>
          <a:p>
            <a:pPr marL="0" indent="0">
              <a:buNone/>
            </a:pPr>
            <a:endParaRPr lang="en-US" sz="500" dirty="0"/>
          </a:p>
          <a:p>
            <a:pPr marL="0" indent="0">
              <a:buNone/>
            </a:pPr>
            <a:r>
              <a:rPr lang="en-US" dirty="0"/>
              <a:t>			           What if we’re overcrowded ⁉️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do I want from encoding? 1 to 2 same meaning as 2 to 3 &lt;= IQR Frequency Encoding.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53927-AAF5-2744-50C3-A7D5B0709DBF}"/>
              </a:ext>
            </a:extLst>
          </p:cNvPr>
          <p:cNvCxnSpPr/>
          <p:nvPr/>
        </p:nvCxnSpPr>
        <p:spPr>
          <a:xfrm>
            <a:off x="0" y="1002380"/>
            <a:ext cx="2438400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4" descr="A red and green squares with a arrow pointing to a red and green squares&#10;&#10;Description automatically generated">
            <a:extLst>
              <a:ext uri="{FF2B5EF4-FFF2-40B4-BE49-F238E27FC236}">
                <a16:creationId xmlns:a16="http://schemas.microsoft.com/office/drawing/2014/main" id="{8C4FB0AA-41DA-0E59-9635-AE0819D1E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5513"/>
            <a:ext cx="9283034" cy="3793068"/>
          </a:xfrm>
          <a:prstGeom prst="rect">
            <a:avLst/>
          </a:prstGeom>
        </p:spPr>
      </p:pic>
      <p:pic>
        <p:nvPicPr>
          <p:cNvPr id="7" name="Picture 6" descr="A black arrow pointing to a white square&#10;&#10;Description automatically generated">
            <a:extLst>
              <a:ext uri="{FF2B5EF4-FFF2-40B4-BE49-F238E27FC236}">
                <a16:creationId xmlns:a16="http://schemas.microsoft.com/office/drawing/2014/main" id="{0CC11416-AA3C-AC20-7853-A155B06E3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5760" y="1455514"/>
            <a:ext cx="8064433" cy="37992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D9835C-0C88-EE27-01AA-5E9E040AE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046" y="5973593"/>
            <a:ext cx="9017907" cy="674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055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A0B5-271F-E7CB-0BBC-514E171D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945600" cy="100238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The Full Linear Model: preparing the ingredient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09395-1FE2-E933-6062-14C19F5CA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04469"/>
            <a:ext cx="24384000" cy="12411528"/>
          </a:xfrm>
        </p:spPr>
        <p:txBody>
          <a:bodyPr>
            <a:normAutofit/>
          </a:bodyPr>
          <a:lstStyle/>
          <a:p>
            <a:r>
              <a:rPr lang="en-US" dirty="0"/>
              <a:t>Do I want to transform y?</a:t>
            </a:r>
          </a:p>
          <a:p>
            <a:pPr marL="0" indent="0">
              <a:buNone/>
            </a:pPr>
            <a:r>
              <a:rPr lang="en-US" dirty="0"/>
              <a:t>=&gt; YES</a:t>
            </a:r>
            <a:r>
              <a:rPr lang="en-US" sz="100" dirty="0"/>
              <a:t>	</a:t>
            </a:r>
          </a:p>
          <a:p>
            <a:pPr marL="0" indent="0">
              <a:buNone/>
            </a:pPr>
            <a:endParaRPr lang="en-US" sz="100" dirty="0"/>
          </a:p>
          <a:p>
            <a:pPr marL="0" indent="0">
              <a:buNone/>
            </a:pPr>
            <a:r>
              <a:rPr lang="en-US" sz="100" dirty="0"/>
              <a:t>		  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Do I want to transform X? &lt;= When do I need to transform X?</a:t>
            </a:r>
          </a:p>
          <a:p>
            <a:pPr lvl="1"/>
            <a:r>
              <a:rPr lang="en-US" dirty="0"/>
              <a:t>Non-Linearity 		Linearity</a:t>
            </a:r>
          </a:p>
          <a:p>
            <a:pPr lvl="1"/>
            <a:r>
              <a:rPr lang="en-US" dirty="0"/>
              <a:t>Something needs it (PCA, PLS, Ridge, …)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53927-AAF5-2744-50C3-A7D5B0709DBF}"/>
              </a:ext>
            </a:extLst>
          </p:cNvPr>
          <p:cNvCxnSpPr/>
          <p:nvPr/>
        </p:nvCxnSpPr>
        <p:spPr>
          <a:xfrm>
            <a:off x="0" y="1002380"/>
            <a:ext cx="2438400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E17E88A-3728-5DC1-93BB-24F496F61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660" y="1085982"/>
            <a:ext cx="10012680" cy="617925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C2A591-2838-23E8-181C-E9EB58B4BA0E}"/>
              </a:ext>
            </a:extLst>
          </p:cNvPr>
          <p:cNvCxnSpPr>
            <a:cxnSpLocks/>
          </p:cNvCxnSpPr>
          <p:nvPr/>
        </p:nvCxnSpPr>
        <p:spPr>
          <a:xfrm>
            <a:off x="5012267" y="8805333"/>
            <a:ext cx="2173393" cy="0"/>
          </a:xfrm>
          <a:prstGeom prst="straightConnector1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DC21D70-2B52-937A-8681-D304DAC2D9B6}"/>
              </a:ext>
            </a:extLst>
          </p:cNvPr>
          <p:cNvSpPr txBox="1"/>
          <p:nvPr/>
        </p:nvSpPr>
        <p:spPr>
          <a:xfrm>
            <a:off x="5283200" y="7905984"/>
            <a:ext cx="2167467" cy="10197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magic</a:t>
            </a: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nela Text Regular"/>
              <a:ea typeface="Canela Text Regular"/>
              <a:cs typeface="Canela Text Regular"/>
              <a:sym typeface="Canela Text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71961544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A0B5-271F-E7CB-0BBC-514E171D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1945600" cy="100238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The Full Linear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09395-1FE2-E933-6062-14C19F5CA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04469"/>
            <a:ext cx="24384000" cy="12411528"/>
          </a:xfrm>
        </p:spPr>
        <p:txBody>
          <a:bodyPr>
            <a:normAutofit/>
          </a:bodyPr>
          <a:lstStyle/>
          <a:p>
            <a:r>
              <a:rPr lang="en-US" dirty="0"/>
              <a:t>What’s the R-Squared(s)?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How long did it take?		</a:t>
            </a:r>
            <a:endParaRPr lang="en-US" sz="3500" b="1" dirty="0"/>
          </a:p>
          <a:p>
            <a:r>
              <a:rPr lang="en-US" dirty="0"/>
              <a:t>Testing Result: train: 6234 ; test: 10,689</a:t>
            </a:r>
          </a:p>
          <a:p>
            <a:r>
              <a:rPr lang="en-US" dirty="0"/>
              <a:t>Does multi-collinearity exist?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53927-AAF5-2744-50C3-A7D5B0709DBF}"/>
              </a:ext>
            </a:extLst>
          </p:cNvPr>
          <p:cNvCxnSpPr/>
          <p:nvPr/>
        </p:nvCxnSpPr>
        <p:spPr>
          <a:xfrm>
            <a:off x="0" y="1002380"/>
            <a:ext cx="2438400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2" name="Picture 11" descr="A black text with black text&#10;&#10;Description automatically generated">
            <a:extLst>
              <a:ext uri="{FF2B5EF4-FFF2-40B4-BE49-F238E27FC236}">
                <a16:creationId xmlns:a16="http://schemas.microsoft.com/office/drawing/2014/main" id="{1CD00249-DBAB-0EB8-80C1-06DA8D296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604" y="3411198"/>
            <a:ext cx="2109747" cy="13694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61B124-4FD1-82DF-41FB-D098192266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92" y="1271703"/>
            <a:ext cx="12774635" cy="14835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97E247A-7AC0-F628-757F-3BAE1933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7908500"/>
            <a:ext cx="7597939" cy="46890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7BDDBA-992C-8205-599B-DFFADB8C9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7149" y="7440522"/>
            <a:ext cx="8948451" cy="552247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903A63E-3201-72E2-60D7-3BECE278F9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351" y="5845246"/>
            <a:ext cx="14619278" cy="148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9673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A0B5-271F-E7CB-0BBC-514E171D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21945600" cy="2079477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The First Red Flag: Multi-collinearity</a:t>
            </a:r>
            <a:br>
              <a:rPr lang="en-US" dirty="0"/>
            </a:br>
            <a:r>
              <a:rPr lang="en-US" sz="3300" dirty="0">
                <a:latin typeface="Canela" pitchFamily="2" charset="77"/>
              </a:rPr>
              <a:t> </a:t>
            </a:r>
            <a:br>
              <a:rPr lang="en-US" sz="3300" dirty="0">
                <a:latin typeface="Canela" pitchFamily="2" charset="77"/>
              </a:rPr>
            </a:br>
            <a:r>
              <a:rPr lang="en-US" sz="4400" dirty="0">
                <a:solidFill>
                  <a:srgbClr val="FF0000"/>
                </a:solidFill>
                <a:latin typeface="Canela" pitchFamily="2" charset="77"/>
              </a:rPr>
              <a:t>I  want: VIF(a linear model) &lt; 5, ideally ~ 1  to  2</a:t>
            </a:r>
            <a:br>
              <a:rPr lang="en-US" dirty="0"/>
            </a:b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53927-AAF5-2744-50C3-A7D5B0709DBF}"/>
              </a:ext>
            </a:extLst>
          </p:cNvPr>
          <p:cNvCxnSpPr/>
          <p:nvPr/>
        </p:nvCxnSpPr>
        <p:spPr>
          <a:xfrm>
            <a:off x="0" y="1842409"/>
            <a:ext cx="2438400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93" name="Google Shape;2406;p38">
            <a:extLst>
              <a:ext uri="{FF2B5EF4-FFF2-40B4-BE49-F238E27FC236}">
                <a16:creationId xmlns:a16="http://schemas.microsoft.com/office/drawing/2014/main" id="{6954620C-8C03-ABA5-BE6F-74A2815628B6}"/>
              </a:ext>
            </a:extLst>
          </p:cNvPr>
          <p:cNvGrpSpPr/>
          <p:nvPr/>
        </p:nvGrpSpPr>
        <p:grpSpPr>
          <a:xfrm>
            <a:off x="162769" y="2079476"/>
            <a:ext cx="7501606" cy="1282854"/>
            <a:chOff x="2609093" y="1256673"/>
            <a:chExt cx="3775397" cy="766008"/>
          </a:xfrm>
        </p:grpSpPr>
        <p:grpSp>
          <p:nvGrpSpPr>
            <p:cNvPr id="294" name="Google Shape;2407;p38">
              <a:extLst>
                <a:ext uri="{FF2B5EF4-FFF2-40B4-BE49-F238E27FC236}">
                  <a16:creationId xmlns:a16="http://schemas.microsoft.com/office/drawing/2014/main" id="{EFD95EE5-EA3B-B8DA-B380-EACCE361C890}"/>
                </a:ext>
              </a:extLst>
            </p:cNvPr>
            <p:cNvGrpSpPr/>
            <p:nvPr/>
          </p:nvGrpSpPr>
          <p:grpSpPr>
            <a:xfrm>
              <a:off x="2609093" y="1256673"/>
              <a:ext cx="3775397" cy="766008"/>
              <a:chOff x="2804168" y="1256673"/>
              <a:chExt cx="3775397" cy="766008"/>
            </a:xfrm>
          </p:grpSpPr>
          <p:sp>
            <p:nvSpPr>
              <p:cNvPr id="296" name="Google Shape;2408;p38">
                <a:extLst>
                  <a:ext uri="{FF2B5EF4-FFF2-40B4-BE49-F238E27FC236}">
                    <a16:creationId xmlns:a16="http://schemas.microsoft.com/office/drawing/2014/main" id="{717EC0D7-0E6D-8525-5B25-A9109C2AA111}"/>
                  </a:ext>
                </a:extLst>
              </p:cNvPr>
              <p:cNvSpPr/>
              <p:nvPr/>
            </p:nvSpPr>
            <p:spPr>
              <a:xfrm>
                <a:off x="3272457" y="1417132"/>
                <a:ext cx="13644" cy="561017"/>
              </a:xfrm>
              <a:custGeom>
                <a:avLst/>
                <a:gdLst/>
                <a:ahLst/>
                <a:cxnLst/>
                <a:rect l="l" t="t" r="r" b="b"/>
                <a:pathLst>
                  <a:path w="417" h="17146" extrusionOk="0">
                    <a:moveTo>
                      <a:pt x="204" y="0"/>
                    </a:moveTo>
                    <a:cubicBezTo>
                      <a:pt x="155" y="0"/>
                      <a:pt x="107" y="33"/>
                      <a:pt x="107" y="98"/>
                    </a:cubicBezTo>
                    <a:cubicBezTo>
                      <a:pt x="107" y="5742"/>
                      <a:pt x="0" y="11385"/>
                      <a:pt x="83" y="17029"/>
                    </a:cubicBezTo>
                    <a:cubicBezTo>
                      <a:pt x="89" y="17106"/>
                      <a:pt x="149" y="17145"/>
                      <a:pt x="208" y="17145"/>
                    </a:cubicBezTo>
                    <a:cubicBezTo>
                      <a:pt x="268" y="17145"/>
                      <a:pt x="328" y="17106"/>
                      <a:pt x="334" y="17029"/>
                    </a:cubicBezTo>
                    <a:cubicBezTo>
                      <a:pt x="417" y="11385"/>
                      <a:pt x="310" y="5742"/>
                      <a:pt x="310" y="98"/>
                    </a:cubicBezTo>
                    <a:cubicBezTo>
                      <a:pt x="304" y="33"/>
                      <a:pt x="253" y="0"/>
                      <a:pt x="2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297" name="Google Shape;2409;p38">
                <a:extLst>
                  <a:ext uri="{FF2B5EF4-FFF2-40B4-BE49-F238E27FC236}">
                    <a16:creationId xmlns:a16="http://schemas.microsoft.com/office/drawing/2014/main" id="{0717312D-7CD1-8F04-CCDA-78D67E8CAA00}"/>
                  </a:ext>
                </a:extLst>
              </p:cNvPr>
              <p:cNvSpPr/>
              <p:nvPr/>
            </p:nvSpPr>
            <p:spPr>
              <a:xfrm>
                <a:off x="3275565" y="1967122"/>
                <a:ext cx="2852464" cy="13939"/>
              </a:xfrm>
              <a:custGeom>
                <a:avLst/>
                <a:gdLst/>
                <a:ahLst/>
                <a:cxnLst/>
                <a:rect l="l" t="t" r="r" b="b"/>
                <a:pathLst>
                  <a:path w="87178" h="426" extrusionOk="0">
                    <a:moveTo>
                      <a:pt x="74450" y="0"/>
                    </a:moveTo>
                    <a:cubicBezTo>
                      <a:pt x="67312" y="0"/>
                      <a:pt x="60175" y="22"/>
                      <a:pt x="53043" y="30"/>
                    </a:cubicBezTo>
                    <a:cubicBezTo>
                      <a:pt x="41744" y="41"/>
                      <a:pt x="30445" y="30"/>
                      <a:pt x="19146" y="65"/>
                    </a:cubicBezTo>
                    <a:cubicBezTo>
                      <a:pt x="12800" y="77"/>
                      <a:pt x="6454" y="113"/>
                      <a:pt x="108" y="137"/>
                    </a:cubicBezTo>
                    <a:cubicBezTo>
                      <a:pt x="0" y="137"/>
                      <a:pt x="0" y="315"/>
                      <a:pt x="108" y="315"/>
                    </a:cubicBezTo>
                    <a:lnTo>
                      <a:pt x="119" y="303"/>
                    </a:lnTo>
                    <a:cubicBezTo>
                      <a:pt x="11407" y="363"/>
                      <a:pt x="22706" y="399"/>
                      <a:pt x="34005" y="399"/>
                    </a:cubicBezTo>
                    <a:cubicBezTo>
                      <a:pt x="45304" y="411"/>
                      <a:pt x="56603" y="422"/>
                      <a:pt x="67902" y="422"/>
                    </a:cubicBezTo>
                    <a:cubicBezTo>
                      <a:pt x="71075" y="422"/>
                      <a:pt x="74248" y="425"/>
                      <a:pt x="77419" y="425"/>
                    </a:cubicBezTo>
                    <a:cubicBezTo>
                      <a:pt x="80591" y="425"/>
                      <a:pt x="83761" y="422"/>
                      <a:pt x="86928" y="411"/>
                    </a:cubicBezTo>
                    <a:cubicBezTo>
                      <a:pt x="87178" y="411"/>
                      <a:pt x="87178" y="30"/>
                      <a:pt x="86928" y="30"/>
                    </a:cubicBezTo>
                    <a:cubicBezTo>
                      <a:pt x="82769" y="8"/>
                      <a:pt x="78609" y="0"/>
                      <a:pt x="744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298" name="Google Shape;2410;p38">
                <a:extLst>
                  <a:ext uri="{FF2B5EF4-FFF2-40B4-BE49-F238E27FC236}">
                    <a16:creationId xmlns:a16="http://schemas.microsoft.com/office/drawing/2014/main" id="{DB3C3338-6542-A5B7-8F13-A66F990256CB}"/>
                  </a:ext>
                </a:extLst>
              </p:cNvPr>
              <p:cNvSpPr/>
              <p:nvPr/>
            </p:nvSpPr>
            <p:spPr>
              <a:xfrm>
                <a:off x="6100348" y="1386931"/>
                <a:ext cx="10928" cy="575316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7583" extrusionOk="0">
                    <a:moveTo>
                      <a:pt x="161" y="0"/>
                    </a:moveTo>
                    <a:cubicBezTo>
                      <a:pt x="87" y="0"/>
                      <a:pt x="13" y="51"/>
                      <a:pt x="13" y="152"/>
                    </a:cubicBezTo>
                    <a:cubicBezTo>
                      <a:pt x="1" y="5939"/>
                      <a:pt x="48" y="11725"/>
                      <a:pt x="84" y="17512"/>
                    </a:cubicBezTo>
                    <a:cubicBezTo>
                      <a:pt x="90" y="17559"/>
                      <a:pt x="129" y="17583"/>
                      <a:pt x="167" y="17583"/>
                    </a:cubicBezTo>
                    <a:cubicBezTo>
                      <a:pt x="206" y="17583"/>
                      <a:pt x="245" y="17559"/>
                      <a:pt x="251" y="17512"/>
                    </a:cubicBezTo>
                    <a:cubicBezTo>
                      <a:pt x="286" y="11725"/>
                      <a:pt x="334" y="5939"/>
                      <a:pt x="310" y="152"/>
                    </a:cubicBezTo>
                    <a:cubicBezTo>
                      <a:pt x="310" y="51"/>
                      <a:pt x="236" y="0"/>
                      <a:pt x="1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299" name="Google Shape;2411;p38">
                <a:extLst>
                  <a:ext uri="{FF2B5EF4-FFF2-40B4-BE49-F238E27FC236}">
                    <a16:creationId xmlns:a16="http://schemas.microsoft.com/office/drawing/2014/main" id="{F64F2B8F-9495-4406-0C5E-1EF3875B4A2B}"/>
                  </a:ext>
                </a:extLst>
              </p:cNvPr>
              <p:cNvSpPr/>
              <p:nvPr/>
            </p:nvSpPr>
            <p:spPr>
              <a:xfrm>
                <a:off x="3274780" y="1340730"/>
                <a:ext cx="2824030" cy="17505"/>
              </a:xfrm>
              <a:custGeom>
                <a:avLst/>
                <a:gdLst/>
                <a:ahLst/>
                <a:cxnLst/>
                <a:rect l="l" t="t" r="r" b="b"/>
                <a:pathLst>
                  <a:path w="86309" h="535" extrusionOk="0">
                    <a:moveTo>
                      <a:pt x="79849" y="0"/>
                    </a:moveTo>
                    <a:cubicBezTo>
                      <a:pt x="76327" y="0"/>
                      <a:pt x="72800" y="52"/>
                      <a:pt x="69283" y="52"/>
                    </a:cubicBezTo>
                    <a:cubicBezTo>
                      <a:pt x="63687" y="52"/>
                      <a:pt x="58079" y="52"/>
                      <a:pt x="52483" y="64"/>
                    </a:cubicBezTo>
                    <a:cubicBezTo>
                      <a:pt x="41327" y="64"/>
                      <a:pt x="30171" y="76"/>
                      <a:pt x="19027" y="100"/>
                    </a:cubicBezTo>
                    <a:cubicBezTo>
                      <a:pt x="12728" y="124"/>
                      <a:pt x="6430" y="135"/>
                      <a:pt x="143" y="159"/>
                    </a:cubicBezTo>
                    <a:cubicBezTo>
                      <a:pt x="1" y="159"/>
                      <a:pt x="1" y="374"/>
                      <a:pt x="143" y="374"/>
                    </a:cubicBezTo>
                    <a:cubicBezTo>
                      <a:pt x="11335" y="397"/>
                      <a:pt x="22539" y="421"/>
                      <a:pt x="33743" y="457"/>
                    </a:cubicBezTo>
                    <a:cubicBezTo>
                      <a:pt x="44899" y="469"/>
                      <a:pt x="56043" y="481"/>
                      <a:pt x="67199" y="481"/>
                    </a:cubicBezTo>
                    <a:cubicBezTo>
                      <a:pt x="71068" y="481"/>
                      <a:pt x="74946" y="535"/>
                      <a:pt x="78821" y="535"/>
                    </a:cubicBezTo>
                    <a:cubicBezTo>
                      <a:pt x="81243" y="535"/>
                      <a:pt x="83665" y="514"/>
                      <a:pt x="86083" y="445"/>
                    </a:cubicBezTo>
                    <a:cubicBezTo>
                      <a:pt x="86309" y="433"/>
                      <a:pt x="86309" y="100"/>
                      <a:pt x="86083" y="76"/>
                    </a:cubicBezTo>
                    <a:cubicBezTo>
                      <a:pt x="84009" y="18"/>
                      <a:pt x="81930" y="0"/>
                      <a:pt x="798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00" name="Google Shape;2412;p38">
                <a:extLst>
                  <a:ext uri="{FF2B5EF4-FFF2-40B4-BE49-F238E27FC236}">
                    <a16:creationId xmlns:a16="http://schemas.microsoft.com/office/drawing/2014/main" id="{0C6BA40F-5C0F-C55F-B66E-F148596F099E}"/>
                  </a:ext>
                </a:extLst>
              </p:cNvPr>
              <p:cNvSpPr/>
              <p:nvPr/>
            </p:nvSpPr>
            <p:spPr>
              <a:xfrm>
                <a:off x="2823538" y="1256673"/>
                <a:ext cx="223412" cy="164712"/>
              </a:xfrm>
              <a:custGeom>
                <a:avLst/>
                <a:gdLst/>
                <a:ahLst/>
                <a:cxnLst/>
                <a:rect l="l" t="t" r="r" b="b"/>
                <a:pathLst>
                  <a:path w="6828" h="5034" extrusionOk="0">
                    <a:moveTo>
                      <a:pt x="154" y="0"/>
                    </a:moveTo>
                    <a:cubicBezTo>
                      <a:pt x="73" y="0"/>
                      <a:pt x="0" y="105"/>
                      <a:pt x="76" y="180"/>
                    </a:cubicBezTo>
                    <a:lnTo>
                      <a:pt x="76" y="168"/>
                    </a:lnTo>
                    <a:cubicBezTo>
                      <a:pt x="2076" y="1990"/>
                      <a:pt x="4338" y="3514"/>
                      <a:pt x="6576" y="5014"/>
                    </a:cubicBezTo>
                    <a:cubicBezTo>
                      <a:pt x="6599" y="5027"/>
                      <a:pt x="6621" y="5033"/>
                      <a:pt x="6642" y="5033"/>
                    </a:cubicBezTo>
                    <a:cubicBezTo>
                      <a:pt x="6754" y="5033"/>
                      <a:pt x="6828" y="4868"/>
                      <a:pt x="6707" y="4788"/>
                    </a:cubicBezTo>
                    <a:cubicBezTo>
                      <a:pt x="4481" y="3300"/>
                      <a:pt x="2278" y="1764"/>
                      <a:pt x="218" y="26"/>
                    </a:cubicBezTo>
                    <a:cubicBezTo>
                      <a:pt x="198" y="8"/>
                      <a:pt x="176" y="0"/>
                      <a:pt x="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01" name="Google Shape;2413;p38">
                <a:extLst>
                  <a:ext uri="{FF2B5EF4-FFF2-40B4-BE49-F238E27FC236}">
                    <a16:creationId xmlns:a16="http://schemas.microsoft.com/office/drawing/2014/main" id="{963C271C-05CF-5308-E1B7-DF83FA81B743}"/>
                  </a:ext>
                </a:extLst>
              </p:cNvPr>
              <p:cNvSpPr/>
              <p:nvPr/>
            </p:nvSpPr>
            <p:spPr>
              <a:xfrm>
                <a:off x="2823538" y="1857837"/>
                <a:ext cx="223379" cy="164843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5038" extrusionOk="0">
                    <a:moveTo>
                      <a:pt x="6646" y="1"/>
                    </a:moveTo>
                    <a:cubicBezTo>
                      <a:pt x="6624" y="1"/>
                      <a:pt x="6600" y="8"/>
                      <a:pt x="6576" y="24"/>
                    </a:cubicBezTo>
                    <a:cubicBezTo>
                      <a:pt x="4350" y="1524"/>
                      <a:pt x="2076" y="3048"/>
                      <a:pt x="76" y="4858"/>
                    </a:cubicBezTo>
                    <a:cubicBezTo>
                      <a:pt x="0" y="4933"/>
                      <a:pt x="73" y="5038"/>
                      <a:pt x="160" y="5038"/>
                    </a:cubicBezTo>
                    <a:cubicBezTo>
                      <a:pt x="183" y="5038"/>
                      <a:pt x="208" y="5030"/>
                      <a:pt x="230" y="5013"/>
                    </a:cubicBezTo>
                    <a:lnTo>
                      <a:pt x="218" y="5001"/>
                    </a:lnTo>
                    <a:cubicBezTo>
                      <a:pt x="2278" y="3274"/>
                      <a:pt x="4469" y="1726"/>
                      <a:pt x="6707" y="238"/>
                    </a:cubicBezTo>
                    <a:cubicBezTo>
                      <a:pt x="6826" y="169"/>
                      <a:pt x="6756" y="1"/>
                      <a:pt x="66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02" name="Google Shape;2414;p38">
                <a:extLst>
                  <a:ext uri="{FF2B5EF4-FFF2-40B4-BE49-F238E27FC236}">
                    <a16:creationId xmlns:a16="http://schemas.microsoft.com/office/drawing/2014/main" id="{2768AECF-B680-03C0-9D7C-D6AF270F680B}"/>
                  </a:ext>
                </a:extLst>
              </p:cNvPr>
              <p:cNvSpPr/>
              <p:nvPr/>
            </p:nvSpPr>
            <p:spPr>
              <a:xfrm>
                <a:off x="2804168" y="1632298"/>
                <a:ext cx="235355" cy="8933"/>
              </a:xfrm>
              <a:custGeom>
                <a:avLst/>
                <a:gdLst/>
                <a:ahLst/>
                <a:cxnLst/>
                <a:rect l="l" t="t" r="r" b="b"/>
                <a:pathLst>
                  <a:path w="7193" h="273" extrusionOk="0">
                    <a:moveTo>
                      <a:pt x="1725" y="0"/>
                    </a:moveTo>
                    <a:cubicBezTo>
                      <a:pt x="1205" y="0"/>
                      <a:pt x="686" y="3"/>
                      <a:pt x="168" y="11"/>
                    </a:cubicBezTo>
                    <a:cubicBezTo>
                      <a:pt x="1" y="11"/>
                      <a:pt x="1" y="261"/>
                      <a:pt x="168" y="261"/>
                    </a:cubicBezTo>
                    <a:cubicBezTo>
                      <a:pt x="686" y="269"/>
                      <a:pt x="1205" y="273"/>
                      <a:pt x="1725" y="273"/>
                    </a:cubicBezTo>
                    <a:cubicBezTo>
                      <a:pt x="3507" y="273"/>
                      <a:pt x="5294" y="235"/>
                      <a:pt x="7073" y="226"/>
                    </a:cubicBezTo>
                    <a:cubicBezTo>
                      <a:pt x="7192" y="226"/>
                      <a:pt x="7192" y="47"/>
                      <a:pt x="7073" y="47"/>
                    </a:cubicBezTo>
                    <a:cubicBezTo>
                      <a:pt x="5294" y="38"/>
                      <a:pt x="3507" y="0"/>
                      <a:pt x="1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03" name="Google Shape;2415;p38">
                <a:extLst>
                  <a:ext uri="{FF2B5EF4-FFF2-40B4-BE49-F238E27FC236}">
                    <a16:creationId xmlns:a16="http://schemas.microsoft.com/office/drawing/2014/main" id="{05DAB251-0E9B-3A2D-4425-5257D08246B4}"/>
                  </a:ext>
                </a:extLst>
              </p:cNvPr>
              <p:cNvSpPr/>
              <p:nvPr/>
            </p:nvSpPr>
            <p:spPr>
              <a:xfrm>
                <a:off x="6337143" y="1256673"/>
                <a:ext cx="223052" cy="164843"/>
              </a:xfrm>
              <a:custGeom>
                <a:avLst/>
                <a:gdLst/>
                <a:ahLst/>
                <a:cxnLst/>
                <a:rect l="l" t="t" r="r" b="b"/>
                <a:pathLst>
                  <a:path w="6817" h="5038" extrusionOk="0">
                    <a:moveTo>
                      <a:pt x="6663" y="0"/>
                    </a:moveTo>
                    <a:cubicBezTo>
                      <a:pt x="6641" y="0"/>
                      <a:pt x="6619" y="8"/>
                      <a:pt x="6599" y="26"/>
                    </a:cubicBezTo>
                    <a:lnTo>
                      <a:pt x="6599" y="37"/>
                    </a:lnTo>
                    <a:cubicBezTo>
                      <a:pt x="4539" y="1764"/>
                      <a:pt x="2348" y="3312"/>
                      <a:pt x="110" y="4800"/>
                    </a:cubicBezTo>
                    <a:cubicBezTo>
                      <a:pt x="1" y="4869"/>
                      <a:pt x="65" y="5037"/>
                      <a:pt x="172" y="5037"/>
                    </a:cubicBezTo>
                    <a:cubicBezTo>
                      <a:pt x="193" y="5037"/>
                      <a:pt x="217" y="5030"/>
                      <a:pt x="241" y="5014"/>
                    </a:cubicBezTo>
                    <a:cubicBezTo>
                      <a:pt x="2467" y="3514"/>
                      <a:pt x="4753" y="1990"/>
                      <a:pt x="6742" y="168"/>
                    </a:cubicBezTo>
                    <a:cubicBezTo>
                      <a:pt x="6817" y="103"/>
                      <a:pt x="6744" y="0"/>
                      <a:pt x="66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04" name="Google Shape;2416;p38">
                <a:extLst>
                  <a:ext uri="{FF2B5EF4-FFF2-40B4-BE49-F238E27FC236}">
                    <a16:creationId xmlns:a16="http://schemas.microsoft.com/office/drawing/2014/main" id="{971C9C9C-FA54-B8DA-51EC-7A868287DA7F}"/>
                  </a:ext>
                </a:extLst>
              </p:cNvPr>
              <p:cNvSpPr/>
              <p:nvPr/>
            </p:nvSpPr>
            <p:spPr>
              <a:xfrm>
                <a:off x="6337110" y="1857608"/>
                <a:ext cx="223478" cy="164680"/>
              </a:xfrm>
              <a:custGeom>
                <a:avLst/>
                <a:gdLst/>
                <a:ahLst/>
                <a:cxnLst/>
                <a:rect l="l" t="t" r="r" b="b"/>
                <a:pathLst>
                  <a:path w="6830" h="5033" extrusionOk="0">
                    <a:moveTo>
                      <a:pt x="181" y="0"/>
                    </a:moveTo>
                    <a:cubicBezTo>
                      <a:pt x="76" y="0"/>
                      <a:pt x="0" y="165"/>
                      <a:pt x="111" y="245"/>
                    </a:cubicBezTo>
                    <a:cubicBezTo>
                      <a:pt x="2349" y="1733"/>
                      <a:pt x="4552" y="3269"/>
                      <a:pt x="6600" y="5008"/>
                    </a:cubicBezTo>
                    <a:cubicBezTo>
                      <a:pt x="6622" y="5025"/>
                      <a:pt x="6647" y="5033"/>
                      <a:pt x="6670" y="5033"/>
                    </a:cubicBezTo>
                    <a:cubicBezTo>
                      <a:pt x="6757" y="5033"/>
                      <a:pt x="6830" y="4928"/>
                      <a:pt x="6754" y="4853"/>
                    </a:cubicBezTo>
                    <a:lnTo>
                      <a:pt x="6754" y="4853"/>
                    </a:lnTo>
                    <a:lnTo>
                      <a:pt x="6754" y="4865"/>
                    </a:lnTo>
                    <a:cubicBezTo>
                      <a:pt x="4754" y="3043"/>
                      <a:pt x="2480" y="1519"/>
                      <a:pt x="242" y="19"/>
                    </a:cubicBezTo>
                    <a:cubicBezTo>
                      <a:pt x="221" y="6"/>
                      <a:pt x="201" y="0"/>
                      <a:pt x="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05" name="Google Shape;2417;p38">
                <a:extLst>
                  <a:ext uri="{FF2B5EF4-FFF2-40B4-BE49-F238E27FC236}">
                    <a16:creationId xmlns:a16="http://schemas.microsoft.com/office/drawing/2014/main" id="{EA36AB6C-60B2-A653-99D9-78724B505DC2}"/>
                  </a:ext>
                </a:extLst>
              </p:cNvPr>
              <p:cNvSpPr/>
              <p:nvPr/>
            </p:nvSpPr>
            <p:spPr>
              <a:xfrm>
                <a:off x="6344210" y="1632298"/>
                <a:ext cx="235355" cy="8933"/>
              </a:xfrm>
              <a:custGeom>
                <a:avLst/>
                <a:gdLst/>
                <a:ahLst/>
                <a:cxnLst/>
                <a:rect l="l" t="t" r="r" b="b"/>
                <a:pathLst>
                  <a:path w="7193" h="273" extrusionOk="0">
                    <a:moveTo>
                      <a:pt x="5474" y="0"/>
                    </a:moveTo>
                    <a:cubicBezTo>
                      <a:pt x="3686" y="0"/>
                      <a:pt x="1899" y="38"/>
                      <a:pt x="120" y="47"/>
                    </a:cubicBezTo>
                    <a:cubicBezTo>
                      <a:pt x="1" y="47"/>
                      <a:pt x="1" y="226"/>
                      <a:pt x="120" y="226"/>
                    </a:cubicBezTo>
                    <a:cubicBezTo>
                      <a:pt x="1899" y="235"/>
                      <a:pt x="3686" y="273"/>
                      <a:pt x="5474" y="273"/>
                    </a:cubicBezTo>
                    <a:cubicBezTo>
                      <a:pt x="5995" y="273"/>
                      <a:pt x="6516" y="269"/>
                      <a:pt x="7038" y="261"/>
                    </a:cubicBezTo>
                    <a:cubicBezTo>
                      <a:pt x="7192" y="261"/>
                      <a:pt x="7192" y="11"/>
                      <a:pt x="7038" y="11"/>
                    </a:cubicBezTo>
                    <a:cubicBezTo>
                      <a:pt x="6516" y="3"/>
                      <a:pt x="5995" y="0"/>
                      <a:pt x="54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</p:grpSp>
        <p:sp>
          <p:nvSpPr>
            <p:cNvPr id="295" name="Google Shape;2418;p38">
              <a:extLst>
                <a:ext uri="{FF2B5EF4-FFF2-40B4-BE49-F238E27FC236}">
                  <a16:creationId xmlns:a16="http://schemas.microsoft.com/office/drawing/2014/main" id="{64154B00-84BE-4A87-1005-1AA86D8E241F}"/>
                </a:ext>
              </a:extLst>
            </p:cNvPr>
            <p:cNvSpPr txBox="1"/>
            <p:nvPr/>
          </p:nvSpPr>
          <p:spPr>
            <a:xfrm>
              <a:off x="3115702" y="1580248"/>
              <a:ext cx="27726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43800" rIns="0" bIns="243800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-US" sz="3500" b="1" dirty="0">
                  <a:solidFill>
                    <a:srgbClr val="C9CB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Principle Component Analysis</a:t>
              </a:r>
              <a:endParaRPr sz="3500" b="1" dirty="0">
                <a:solidFill>
                  <a:srgbClr val="C9CB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06" name="Google Shape;2406;p38">
            <a:extLst>
              <a:ext uri="{FF2B5EF4-FFF2-40B4-BE49-F238E27FC236}">
                <a16:creationId xmlns:a16="http://schemas.microsoft.com/office/drawing/2014/main" id="{93B6DE44-6769-8707-24FB-16CC56A01B6F}"/>
              </a:ext>
            </a:extLst>
          </p:cNvPr>
          <p:cNvGrpSpPr/>
          <p:nvPr/>
        </p:nvGrpSpPr>
        <p:grpSpPr>
          <a:xfrm>
            <a:off x="8099447" y="2079476"/>
            <a:ext cx="7530747" cy="1257541"/>
            <a:chOff x="2609093" y="1256673"/>
            <a:chExt cx="3775397" cy="766008"/>
          </a:xfrm>
        </p:grpSpPr>
        <p:grpSp>
          <p:nvGrpSpPr>
            <p:cNvPr id="307" name="Google Shape;2407;p38">
              <a:extLst>
                <a:ext uri="{FF2B5EF4-FFF2-40B4-BE49-F238E27FC236}">
                  <a16:creationId xmlns:a16="http://schemas.microsoft.com/office/drawing/2014/main" id="{BE4D9341-6190-F7F1-4B47-4041CEEC14E8}"/>
                </a:ext>
              </a:extLst>
            </p:cNvPr>
            <p:cNvGrpSpPr/>
            <p:nvPr/>
          </p:nvGrpSpPr>
          <p:grpSpPr>
            <a:xfrm>
              <a:off x="2609093" y="1256673"/>
              <a:ext cx="3775397" cy="766008"/>
              <a:chOff x="2804168" y="1256673"/>
              <a:chExt cx="3775397" cy="766008"/>
            </a:xfrm>
          </p:grpSpPr>
          <p:sp>
            <p:nvSpPr>
              <p:cNvPr id="309" name="Google Shape;2408;p38">
                <a:extLst>
                  <a:ext uri="{FF2B5EF4-FFF2-40B4-BE49-F238E27FC236}">
                    <a16:creationId xmlns:a16="http://schemas.microsoft.com/office/drawing/2014/main" id="{489B2213-E375-2B1D-F74A-0A5C668D8D70}"/>
                  </a:ext>
                </a:extLst>
              </p:cNvPr>
              <p:cNvSpPr/>
              <p:nvPr/>
            </p:nvSpPr>
            <p:spPr>
              <a:xfrm>
                <a:off x="3272457" y="1417132"/>
                <a:ext cx="13644" cy="561017"/>
              </a:xfrm>
              <a:custGeom>
                <a:avLst/>
                <a:gdLst/>
                <a:ahLst/>
                <a:cxnLst/>
                <a:rect l="l" t="t" r="r" b="b"/>
                <a:pathLst>
                  <a:path w="417" h="17146" extrusionOk="0">
                    <a:moveTo>
                      <a:pt x="204" y="0"/>
                    </a:moveTo>
                    <a:cubicBezTo>
                      <a:pt x="155" y="0"/>
                      <a:pt x="107" y="33"/>
                      <a:pt x="107" y="98"/>
                    </a:cubicBezTo>
                    <a:cubicBezTo>
                      <a:pt x="107" y="5742"/>
                      <a:pt x="0" y="11385"/>
                      <a:pt x="83" y="17029"/>
                    </a:cubicBezTo>
                    <a:cubicBezTo>
                      <a:pt x="89" y="17106"/>
                      <a:pt x="149" y="17145"/>
                      <a:pt x="208" y="17145"/>
                    </a:cubicBezTo>
                    <a:cubicBezTo>
                      <a:pt x="268" y="17145"/>
                      <a:pt x="328" y="17106"/>
                      <a:pt x="334" y="17029"/>
                    </a:cubicBezTo>
                    <a:cubicBezTo>
                      <a:pt x="417" y="11385"/>
                      <a:pt x="310" y="5742"/>
                      <a:pt x="310" y="98"/>
                    </a:cubicBezTo>
                    <a:cubicBezTo>
                      <a:pt x="304" y="33"/>
                      <a:pt x="253" y="0"/>
                      <a:pt x="2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10" name="Google Shape;2409;p38">
                <a:extLst>
                  <a:ext uri="{FF2B5EF4-FFF2-40B4-BE49-F238E27FC236}">
                    <a16:creationId xmlns:a16="http://schemas.microsoft.com/office/drawing/2014/main" id="{A7E8B7A6-F2B3-009B-736D-A3F62F3F0579}"/>
                  </a:ext>
                </a:extLst>
              </p:cNvPr>
              <p:cNvSpPr/>
              <p:nvPr/>
            </p:nvSpPr>
            <p:spPr>
              <a:xfrm>
                <a:off x="3275565" y="1967122"/>
                <a:ext cx="2852464" cy="13939"/>
              </a:xfrm>
              <a:custGeom>
                <a:avLst/>
                <a:gdLst/>
                <a:ahLst/>
                <a:cxnLst/>
                <a:rect l="l" t="t" r="r" b="b"/>
                <a:pathLst>
                  <a:path w="87178" h="426" extrusionOk="0">
                    <a:moveTo>
                      <a:pt x="74450" y="0"/>
                    </a:moveTo>
                    <a:cubicBezTo>
                      <a:pt x="67312" y="0"/>
                      <a:pt x="60175" y="22"/>
                      <a:pt x="53043" y="30"/>
                    </a:cubicBezTo>
                    <a:cubicBezTo>
                      <a:pt x="41744" y="41"/>
                      <a:pt x="30445" y="30"/>
                      <a:pt x="19146" y="65"/>
                    </a:cubicBezTo>
                    <a:cubicBezTo>
                      <a:pt x="12800" y="77"/>
                      <a:pt x="6454" y="113"/>
                      <a:pt x="108" y="137"/>
                    </a:cubicBezTo>
                    <a:cubicBezTo>
                      <a:pt x="0" y="137"/>
                      <a:pt x="0" y="315"/>
                      <a:pt x="108" y="315"/>
                    </a:cubicBezTo>
                    <a:lnTo>
                      <a:pt x="119" y="303"/>
                    </a:lnTo>
                    <a:cubicBezTo>
                      <a:pt x="11407" y="363"/>
                      <a:pt x="22706" y="399"/>
                      <a:pt x="34005" y="399"/>
                    </a:cubicBezTo>
                    <a:cubicBezTo>
                      <a:pt x="45304" y="411"/>
                      <a:pt x="56603" y="422"/>
                      <a:pt x="67902" y="422"/>
                    </a:cubicBezTo>
                    <a:cubicBezTo>
                      <a:pt x="71075" y="422"/>
                      <a:pt x="74248" y="425"/>
                      <a:pt x="77419" y="425"/>
                    </a:cubicBezTo>
                    <a:cubicBezTo>
                      <a:pt x="80591" y="425"/>
                      <a:pt x="83761" y="422"/>
                      <a:pt x="86928" y="411"/>
                    </a:cubicBezTo>
                    <a:cubicBezTo>
                      <a:pt x="87178" y="411"/>
                      <a:pt x="87178" y="30"/>
                      <a:pt x="86928" y="30"/>
                    </a:cubicBezTo>
                    <a:cubicBezTo>
                      <a:pt x="82769" y="8"/>
                      <a:pt x="78609" y="0"/>
                      <a:pt x="744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11" name="Google Shape;2410;p38">
                <a:extLst>
                  <a:ext uri="{FF2B5EF4-FFF2-40B4-BE49-F238E27FC236}">
                    <a16:creationId xmlns:a16="http://schemas.microsoft.com/office/drawing/2014/main" id="{A10B0159-8D5B-1486-4842-64620EC96DD9}"/>
                  </a:ext>
                </a:extLst>
              </p:cNvPr>
              <p:cNvSpPr/>
              <p:nvPr/>
            </p:nvSpPr>
            <p:spPr>
              <a:xfrm>
                <a:off x="6100348" y="1386931"/>
                <a:ext cx="10928" cy="575316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7583" extrusionOk="0">
                    <a:moveTo>
                      <a:pt x="161" y="0"/>
                    </a:moveTo>
                    <a:cubicBezTo>
                      <a:pt x="87" y="0"/>
                      <a:pt x="13" y="51"/>
                      <a:pt x="13" y="152"/>
                    </a:cubicBezTo>
                    <a:cubicBezTo>
                      <a:pt x="1" y="5939"/>
                      <a:pt x="48" y="11725"/>
                      <a:pt x="84" y="17512"/>
                    </a:cubicBezTo>
                    <a:cubicBezTo>
                      <a:pt x="90" y="17559"/>
                      <a:pt x="129" y="17583"/>
                      <a:pt x="167" y="17583"/>
                    </a:cubicBezTo>
                    <a:cubicBezTo>
                      <a:pt x="206" y="17583"/>
                      <a:pt x="245" y="17559"/>
                      <a:pt x="251" y="17512"/>
                    </a:cubicBezTo>
                    <a:cubicBezTo>
                      <a:pt x="286" y="11725"/>
                      <a:pt x="334" y="5939"/>
                      <a:pt x="310" y="152"/>
                    </a:cubicBezTo>
                    <a:cubicBezTo>
                      <a:pt x="310" y="51"/>
                      <a:pt x="236" y="0"/>
                      <a:pt x="1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12" name="Google Shape;2411;p38">
                <a:extLst>
                  <a:ext uri="{FF2B5EF4-FFF2-40B4-BE49-F238E27FC236}">
                    <a16:creationId xmlns:a16="http://schemas.microsoft.com/office/drawing/2014/main" id="{CEAE9479-D587-C1DF-D500-FF9EDA267323}"/>
                  </a:ext>
                </a:extLst>
              </p:cNvPr>
              <p:cNvSpPr/>
              <p:nvPr/>
            </p:nvSpPr>
            <p:spPr>
              <a:xfrm>
                <a:off x="3274780" y="1340730"/>
                <a:ext cx="2824030" cy="17505"/>
              </a:xfrm>
              <a:custGeom>
                <a:avLst/>
                <a:gdLst/>
                <a:ahLst/>
                <a:cxnLst/>
                <a:rect l="l" t="t" r="r" b="b"/>
                <a:pathLst>
                  <a:path w="86309" h="535" extrusionOk="0">
                    <a:moveTo>
                      <a:pt x="79849" y="0"/>
                    </a:moveTo>
                    <a:cubicBezTo>
                      <a:pt x="76327" y="0"/>
                      <a:pt x="72800" y="52"/>
                      <a:pt x="69283" y="52"/>
                    </a:cubicBezTo>
                    <a:cubicBezTo>
                      <a:pt x="63687" y="52"/>
                      <a:pt x="58079" y="52"/>
                      <a:pt x="52483" y="64"/>
                    </a:cubicBezTo>
                    <a:cubicBezTo>
                      <a:pt x="41327" y="64"/>
                      <a:pt x="30171" y="76"/>
                      <a:pt x="19027" y="100"/>
                    </a:cubicBezTo>
                    <a:cubicBezTo>
                      <a:pt x="12728" y="124"/>
                      <a:pt x="6430" y="135"/>
                      <a:pt x="143" y="159"/>
                    </a:cubicBezTo>
                    <a:cubicBezTo>
                      <a:pt x="1" y="159"/>
                      <a:pt x="1" y="374"/>
                      <a:pt x="143" y="374"/>
                    </a:cubicBezTo>
                    <a:cubicBezTo>
                      <a:pt x="11335" y="397"/>
                      <a:pt x="22539" y="421"/>
                      <a:pt x="33743" y="457"/>
                    </a:cubicBezTo>
                    <a:cubicBezTo>
                      <a:pt x="44899" y="469"/>
                      <a:pt x="56043" y="481"/>
                      <a:pt x="67199" y="481"/>
                    </a:cubicBezTo>
                    <a:cubicBezTo>
                      <a:pt x="71068" y="481"/>
                      <a:pt x="74946" y="535"/>
                      <a:pt x="78821" y="535"/>
                    </a:cubicBezTo>
                    <a:cubicBezTo>
                      <a:pt x="81243" y="535"/>
                      <a:pt x="83665" y="514"/>
                      <a:pt x="86083" y="445"/>
                    </a:cubicBezTo>
                    <a:cubicBezTo>
                      <a:pt x="86309" y="433"/>
                      <a:pt x="86309" y="100"/>
                      <a:pt x="86083" y="76"/>
                    </a:cubicBezTo>
                    <a:cubicBezTo>
                      <a:pt x="84009" y="18"/>
                      <a:pt x="81930" y="0"/>
                      <a:pt x="798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13" name="Google Shape;2412;p38">
                <a:extLst>
                  <a:ext uri="{FF2B5EF4-FFF2-40B4-BE49-F238E27FC236}">
                    <a16:creationId xmlns:a16="http://schemas.microsoft.com/office/drawing/2014/main" id="{66A090B7-DA12-297B-6E1C-61C1F2EA7D15}"/>
                  </a:ext>
                </a:extLst>
              </p:cNvPr>
              <p:cNvSpPr/>
              <p:nvPr/>
            </p:nvSpPr>
            <p:spPr>
              <a:xfrm>
                <a:off x="2823538" y="1256673"/>
                <a:ext cx="223412" cy="164712"/>
              </a:xfrm>
              <a:custGeom>
                <a:avLst/>
                <a:gdLst/>
                <a:ahLst/>
                <a:cxnLst/>
                <a:rect l="l" t="t" r="r" b="b"/>
                <a:pathLst>
                  <a:path w="6828" h="5034" extrusionOk="0">
                    <a:moveTo>
                      <a:pt x="154" y="0"/>
                    </a:moveTo>
                    <a:cubicBezTo>
                      <a:pt x="73" y="0"/>
                      <a:pt x="0" y="105"/>
                      <a:pt x="76" y="180"/>
                    </a:cubicBezTo>
                    <a:lnTo>
                      <a:pt x="76" y="168"/>
                    </a:lnTo>
                    <a:cubicBezTo>
                      <a:pt x="2076" y="1990"/>
                      <a:pt x="4338" y="3514"/>
                      <a:pt x="6576" y="5014"/>
                    </a:cubicBezTo>
                    <a:cubicBezTo>
                      <a:pt x="6599" y="5027"/>
                      <a:pt x="6621" y="5033"/>
                      <a:pt x="6642" y="5033"/>
                    </a:cubicBezTo>
                    <a:cubicBezTo>
                      <a:pt x="6754" y="5033"/>
                      <a:pt x="6828" y="4868"/>
                      <a:pt x="6707" y="4788"/>
                    </a:cubicBezTo>
                    <a:cubicBezTo>
                      <a:pt x="4481" y="3300"/>
                      <a:pt x="2278" y="1764"/>
                      <a:pt x="218" y="26"/>
                    </a:cubicBezTo>
                    <a:cubicBezTo>
                      <a:pt x="198" y="8"/>
                      <a:pt x="176" y="0"/>
                      <a:pt x="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14" name="Google Shape;2413;p38">
                <a:extLst>
                  <a:ext uri="{FF2B5EF4-FFF2-40B4-BE49-F238E27FC236}">
                    <a16:creationId xmlns:a16="http://schemas.microsoft.com/office/drawing/2014/main" id="{4599D1EF-8FC0-8E36-C629-BFE4089D362B}"/>
                  </a:ext>
                </a:extLst>
              </p:cNvPr>
              <p:cNvSpPr/>
              <p:nvPr/>
            </p:nvSpPr>
            <p:spPr>
              <a:xfrm>
                <a:off x="2823538" y="1857837"/>
                <a:ext cx="223379" cy="164843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5038" extrusionOk="0">
                    <a:moveTo>
                      <a:pt x="6646" y="1"/>
                    </a:moveTo>
                    <a:cubicBezTo>
                      <a:pt x="6624" y="1"/>
                      <a:pt x="6600" y="8"/>
                      <a:pt x="6576" y="24"/>
                    </a:cubicBezTo>
                    <a:cubicBezTo>
                      <a:pt x="4350" y="1524"/>
                      <a:pt x="2076" y="3048"/>
                      <a:pt x="76" y="4858"/>
                    </a:cubicBezTo>
                    <a:cubicBezTo>
                      <a:pt x="0" y="4933"/>
                      <a:pt x="73" y="5038"/>
                      <a:pt x="160" y="5038"/>
                    </a:cubicBezTo>
                    <a:cubicBezTo>
                      <a:pt x="183" y="5038"/>
                      <a:pt x="208" y="5030"/>
                      <a:pt x="230" y="5013"/>
                    </a:cubicBezTo>
                    <a:lnTo>
                      <a:pt x="218" y="5001"/>
                    </a:lnTo>
                    <a:cubicBezTo>
                      <a:pt x="2278" y="3274"/>
                      <a:pt x="4469" y="1726"/>
                      <a:pt x="6707" y="238"/>
                    </a:cubicBezTo>
                    <a:cubicBezTo>
                      <a:pt x="6826" y="169"/>
                      <a:pt x="6756" y="1"/>
                      <a:pt x="66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15" name="Google Shape;2414;p38">
                <a:extLst>
                  <a:ext uri="{FF2B5EF4-FFF2-40B4-BE49-F238E27FC236}">
                    <a16:creationId xmlns:a16="http://schemas.microsoft.com/office/drawing/2014/main" id="{5404D912-9BA7-EA0E-FA63-A471BEB8125C}"/>
                  </a:ext>
                </a:extLst>
              </p:cNvPr>
              <p:cNvSpPr/>
              <p:nvPr/>
            </p:nvSpPr>
            <p:spPr>
              <a:xfrm>
                <a:off x="2804168" y="1632298"/>
                <a:ext cx="235355" cy="8933"/>
              </a:xfrm>
              <a:custGeom>
                <a:avLst/>
                <a:gdLst/>
                <a:ahLst/>
                <a:cxnLst/>
                <a:rect l="l" t="t" r="r" b="b"/>
                <a:pathLst>
                  <a:path w="7193" h="273" extrusionOk="0">
                    <a:moveTo>
                      <a:pt x="1725" y="0"/>
                    </a:moveTo>
                    <a:cubicBezTo>
                      <a:pt x="1205" y="0"/>
                      <a:pt x="686" y="3"/>
                      <a:pt x="168" y="11"/>
                    </a:cubicBezTo>
                    <a:cubicBezTo>
                      <a:pt x="1" y="11"/>
                      <a:pt x="1" y="261"/>
                      <a:pt x="168" y="261"/>
                    </a:cubicBezTo>
                    <a:cubicBezTo>
                      <a:pt x="686" y="269"/>
                      <a:pt x="1205" y="273"/>
                      <a:pt x="1725" y="273"/>
                    </a:cubicBezTo>
                    <a:cubicBezTo>
                      <a:pt x="3507" y="273"/>
                      <a:pt x="5294" y="235"/>
                      <a:pt x="7073" y="226"/>
                    </a:cubicBezTo>
                    <a:cubicBezTo>
                      <a:pt x="7192" y="226"/>
                      <a:pt x="7192" y="47"/>
                      <a:pt x="7073" y="47"/>
                    </a:cubicBezTo>
                    <a:cubicBezTo>
                      <a:pt x="5294" y="38"/>
                      <a:pt x="3507" y="0"/>
                      <a:pt x="1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16" name="Google Shape;2415;p38">
                <a:extLst>
                  <a:ext uri="{FF2B5EF4-FFF2-40B4-BE49-F238E27FC236}">
                    <a16:creationId xmlns:a16="http://schemas.microsoft.com/office/drawing/2014/main" id="{88F75718-9F19-0CF9-6115-0EC5BE84E9B4}"/>
                  </a:ext>
                </a:extLst>
              </p:cNvPr>
              <p:cNvSpPr/>
              <p:nvPr/>
            </p:nvSpPr>
            <p:spPr>
              <a:xfrm>
                <a:off x="6337143" y="1256673"/>
                <a:ext cx="223052" cy="164843"/>
              </a:xfrm>
              <a:custGeom>
                <a:avLst/>
                <a:gdLst/>
                <a:ahLst/>
                <a:cxnLst/>
                <a:rect l="l" t="t" r="r" b="b"/>
                <a:pathLst>
                  <a:path w="6817" h="5038" extrusionOk="0">
                    <a:moveTo>
                      <a:pt x="6663" y="0"/>
                    </a:moveTo>
                    <a:cubicBezTo>
                      <a:pt x="6641" y="0"/>
                      <a:pt x="6619" y="8"/>
                      <a:pt x="6599" y="26"/>
                    </a:cubicBezTo>
                    <a:lnTo>
                      <a:pt x="6599" y="37"/>
                    </a:lnTo>
                    <a:cubicBezTo>
                      <a:pt x="4539" y="1764"/>
                      <a:pt x="2348" y="3312"/>
                      <a:pt x="110" y="4800"/>
                    </a:cubicBezTo>
                    <a:cubicBezTo>
                      <a:pt x="1" y="4869"/>
                      <a:pt x="65" y="5037"/>
                      <a:pt x="172" y="5037"/>
                    </a:cubicBezTo>
                    <a:cubicBezTo>
                      <a:pt x="193" y="5037"/>
                      <a:pt x="217" y="5030"/>
                      <a:pt x="241" y="5014"/>
                    </a:cubicBezTo>
                    <a:cubicBezTo>
                      <a:pt x="2467" y="3514"/>
                      <a:pt x="4753" y="1990"/>
                      <a:pt x="6742" y="168"/>
                    </a:cubicBezTo>
                    <a:cubicBezTo>
                      <a:pt x="6817" y="103"/>
                      <a:pt x="6744" y="0"/>
                      <a:pt x="66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17" name="Google Shape;2416;p38">
                <a:extLst>
                  <a:ext uri="{FF2B5EF4-FFF2-40B4-BE49-F238E27FC236}">
                    <a16:creationId xmlns:a16="http://schemas.microsoft.com/office/drawing/2014/main" id="{F9B99D66-7968-09E9-8B94-AD56DFA42E9E}"/>
                  </a:ext>
                </a:extLst>
              </p:cNvPr>
              <p:cNvSpPr/>
              <p:nvPr/>
            </p:nvSpPr>
            <p:spPr>
              <a:xfrm>
                <a:off x="6337110" y="1857608"/>
                <a:ext cx="223478" cy="164680"/>
              </a:xfrm>
              <a:custGeom>
                <a:avLst/>
                <a:gdLst/>
                <a:ahLst/>
                <a:cxnLst/>
                <a:rect l="l" t="t" r="r" b="b"/>
                <a:pathLst>
                  <a:path w="6830" h="5033" extrusionOk="0">
                    <a:moveTo>
                      <a:pt x="181" y="0"/>
                    </a:moveTo>
                    <a:cubicBezTo>
                      <a:pt x="76" y="0"/>
                      <a:pt x="0" y="165"/>
                      <a:pt x="111" y="245"/>
                    </a:cubicBezTo>
                    <a:cubicBezTo>
                      <a:pt x="2349" y="1733"/>
                      <a:pt x="4552" y="3269"/>
                      <a:pt x="6600" y="5008"/>
                    </a:cubicBezTo>
                    <a:cubicBezTo>
                      <a:pt x="6622" y="5025"/>
                      <a:pt x="6647" y="5033"/>
                      <a:pt x="6670" y="5033"/>
                    </a:cubicBezTo>
                    <a:cubicBezTo>
                      <a:pt x="6757" y="5033"/>
                      <a:pt x="6830" y="4928"/>
                      <a:pt x="6754" y="4853"/>
                    </a:cubicBezTo>
                    <a:lnTo>
                      <a:pt x="6754" y="4853"/>
                    </a:lnTo>
                    <a:lnTo>
                      <a:pt x="6754" y="4865"/>
                    </a:lnTo>
                    <a:cubicBezTo>
                      <a:pt x="4754" y="3043"/>
                      <a:pt x="2480" y="1519"/>
                      <a:pt x="242" y="19"/>
                    </a:cubicBezTo>
                    <a:cubicBezTo>
                      <a:pt x="221" y="6"/>
                      <a:pt x="201" y="0"/>
                      <a:pt x="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18" name="Google Shape;2417;p38">
                <a:extLst>
                  <a:ext uri="{FF2B5EF4-FFF2-40B4-BE49-F238E27FC236}">
                    <a16:creationId xmlns:a16="http://schemas.microsoft.com/office/drawing/2014/main" id="{EFAD0A84-8543-9713-2F0A-48C24874E0F6}"/>
                  </a:ext>
                </a:extLst>
              </p:cNvPr>
              <p:cNvSpPr/>
              <p:nvPr/>
            </p:nvSpPr>
            <p:spPr>
              <a:xfrm>
                <a:off x="6344210" y="1632298"/>
                <a:ext cx="235355" cy="8933"/>
              </a:xfrm>
              <a:custGeom>
                <a:avLst/>
                <a:gdLst/>
                <a:ahLst/>
                <a:cxnLst/>
                <a:rect l="l" t="t" r="r" b="b"/>
                <a:pathLst>
                  <a:path w="7193" h="273" extrusionOk="0">
                    <a:moveTo>
                      <a:pt x="5474" y="0"/>
                    </a:moveTo>
                    <a:cubicBezTo>
                      <a:pt x="3686" y="0"/>
                      <a:pt x="1899" y="38"/>
                      <a:pt x="120" y="47"/>
                    </a:cubicBezTo>
                    <a:cubicBezTo>
                      <a:pt x="1" y="47"/>
                      <a:pt x="1" y="226"/>
                      <a:pt x="120" y="226"/>
                    </a:cubicBezTo>
                    <a:cubicBezTo>
                      <a:pt x="1899" y="235"/>
                      <a:pt x="3686" y="273"/>
                      <a:pt x="5474" y="273"/>
                    </a:cubicBezTo>
                    <a:cubicBezTo>
                      <a:pt x="5995" y="273"/>
                      <a:pt x="6516" y="269"/>
                      <a:pt x="7038" y="261"/>
                    </a:cubicBezTo>
                    <a:cubicBezTo>
                      <a:pt x="7192" y="261"/>
                      <a:pt x="7192" y="11"/>
                      <a:pt x="7038" y="11"/>
                    </a:cubicBezTo>
                    <a:cubicBezTo>
                      <a:pt x="6516" y="3"/>
                      <a:pt x="5995" y="0"/>
                      <a:pt x="54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</p:grpSp>
        <p:sp>
          <p:nvSpPr>
            <p:cNvPr id="308" name="Google Shape;2418;p38">
              <a:extLst>
                <a:ext uri="{FF2B5EF4-FFF2-40B4-BE49-F238E27FC236}">
                  <a16:creationId xmlns:a16="http://schemas.microsoft.com/office/drawing/2014/main" id="{AD315E58-807C-5753-5DD3-939472C4F551}"/>
                </a:ext>
              </a:extLst>
            </p:cNvPr>
            <p:cNvSpPr txBox="1"/>
            <p:nvPr/>
          </p:nvSpPr>
          <p:spPr>
            <a:xfrm>
              <a:off x="3115702" y="1580248"/>
              <a:ext cx="27726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43800" rIns="0" bIns="243800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3500" b="1" dirty="0">
                  <a:solidFill>
                    <a:schemeClr val="accen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Partial Least Squares</a:t>
              </a:r>
              <a:endParaRPr sz="3500" b="1" dirty="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32" name="Google Shape;2406;p38">
            <a:extLst>
              <a:ext uri="{FF2B5EF4-FFF2-40B4-BE49-F238E27FC236}">
                <a16:creationId xmlns:a16="http://schemas.microsoft.com/office/drawing/2014/main" id="{4F1536F4-83E6-82A5-7E89-0A89AFA34302}"/>
              </a:ext>
            </a:extLst>
          </p:cNvPr>
          <p:cNvGrpSpPr/>
          <p:nvPr/>
        </p:nvGrpSpPr>
        <p:grpSpPr>
          <a:xfrm>
            <a:off x="16222405" y="2078831"/>
            <a:ext cx="7530747" cy="1257541"/>
            <a:chOff x="2609093" y="1256673"/>
            <a:chExt cx="3775397" cy="766008"/>
          </a:xfrm>
        </p:grpSpPr>
        <p:grpSp>
          <p:nvGrpSpPr>
            <p:cNvPr id="333" name="Google Shape;2407;p38">
              <a:extLst>
                <a:ext uri="{FF2B5EF4-FFF2-40B4-BE49-F238E27FC236}">
                  <a16:creationId xmlns:a16="http://schemas.microsoft.com/office/drawing/2014/main" id="{90AEA0BB-72E0-D5C3-762D-B712B43CD829}"/>
                </a:ext>
              </a:extLst>
            </p:cNvPr>
            <p:cNvGrpSpPr/>
            <p:nvPr/>
          </p:nvGrpSpPr>
          <p:grpSpPr>
            <a:xfrm>
              <a:off x="2609093" y="1256673"/>
              <a:ext cx="3775397" cy="766008"/>
              <a:chOff x="2804168" y="1256673"/>
              <a:chExt cx="3775397" cy="766008"/>
            </a:xfrm>
          </p:grpSpPr>
          <p:sp>
            <p:nvSpPr>
              <p:cNvPr id="335" name="Google Shape;2408;p38">
                <a:extLst>
                  <a:ext uri="{FF2B5EF4-FFF2-40B4-BE49-F238E27FC236}">
                    <a16:creationId xmlns:a16="http://schemas.microsoft.com/office/drawing/2014/main" id="{06C97160-0B9A-2EAE-C519-EABE4E474527}"/>
                  </a:ext>
                </a:extLst>
              </p:cNvPr>
              <p:cNvSpPr/>
              <p:nvPr/>
            </p:nvSpPr>
            <p:spPr>
              <a:xfrm>
                <a:off x="3272457" y="1417132"/>
                <a:ext cx="13644" cy="561017"/>
              </a:xfrm>
              <a:custGeom>
                <a:avLst/>
                <a:gdLst/>
                <a:ahLst/>
                <a:cxnLst/>
                <a:rect l="l" t="t" r="r" b="b"/>
                <a:pathLst>
                  <a:path w="417" h="17146" extrusionOk="0">
                    <a:moveTo>
                      <a:pt x="204" y="0"/>
                    </a:moveTo>
                    <a:cubicBezTo>
                      <a:pt x="155" y="0"/>
                      <a:pt x="107" y="33"/>
                      <a:pt x="107" y="98"/>
                    </a:cubicBezTo>
                    <a:cubicBezTo>
                      <a:pt x="107" y="5742"/>
                      <a:pt x="0" y="11385"/>
                      <a:pt x="83" y="17029"/>
                    </a:cubicBezTo>
                    <a:cubicBezTo>
                      <a:pt x="89" y="17106"/>
                      <a:pt x="149" y="17145"/>
                      <a:pt x="208" y="17145"/>
                    </a:cubicBezTo>
                    <a:cubicBezTo>
                      <a:pt x="268" y="17145"/>
                      <a:pt x="328" y="17106"/>
                      <a:pt x="334" y="17029"/>
                    </a:cubicBezTo>
                    <a:cubicBezTo>
                      <a:pt x="417" y="11385"/>
                      <a:pt x="310" y="5742"/>
                      <a:pt x="310" y="98"/>
                    </a:cubicBezTo>
                    <a:cubicBezTo>
                      <a:pt x="304" y="33"/>
                      <a:pt x="253" y="0"/>
                      <a:pt x="2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36" name="Google Shape;2409;p38">
                <a:extLst>
                  <a:ext uri="{FF2B5EF4-FFF2-40B4-BE49-F238E27FC236}">
                    <a16:creationId xmlns:a16="http://schemas.microsoft.com/office/drawing/2014/main" id="{D5521C2A-8E37-C2B3-B299-F8EA161109AA}"/>
                  </a:ext>
                </a:extLst>
              </p:cNvPr>
              <p:cNvSpPr/>
              <p:nvPr/>
            </p:nvSpPr>
            <p:spPr>
              <a:xfrm>
                <a:off x="3275565" y="1967122"/>
                <a:ext cx="2852464" cy="13939"/>
              </a:xfrm>
              <a:custGeom>
                <a:avLst/>
                <a:gdLst/>
                <a:ahLst/>
                <a:cxnLst/>
                <a:rect l="l" t="t" r="r" b="b"/>
                <a:pathLst>
                  <a:path w="87178" h="426" extrusionOk="0">
                    <a:moveTo>
                      <a:pt x="74450" y="0"/>
                    </a:moveTo>
                    <a:cubicBezTo>
                      <a:pt x="67312" y="0"/>
                      <a:pt x="60175" y="22"/>
                      <a:pt x="53043" y="30"/>
                    </a:cubicBezTo>
                    <a:cubicBezTo>
                      <a:pt x="41744" y="41"/>
                      <a:pt x="30445" y="30"/>
                      <a:pt x="19146" y="65"/>
                    </a:cubicBezTo>
                    <a:cubicBezTo>
                      <a:pt x="12800" y="77"/>
                      <a:pt x="6454" y="113"/>
                      <a:pt x="108" y="137"/>
                    </a:cubicBezTo>
                    <a:cubicBezTo>
                      <a:pt x="0" y="137"/>
                      <a:pt x="0" y="315"/>
                      <a:pt x="108" y="315"/>
                    </a:cubicBezTo>
                    <a:lnTo>
                      <a:pt x="119" y="303"/>
                    </a:lnTo>
                    <a:cubicBezTo>
                      <a:pt x="11407" y="363"/>
                      <a:pt x="22706" y="399"/>
                      <a:pt x="34005" y="399"/>
                    </a:cubicBezTo>
                    <a:cubicBezTo>
                      <a:pt x="45304" y="411"/>
                      <a:pt x="56603" y="422"/>
                      <a:pt x="67902" y="422"/>
                    </a:cubicBezTo>
                    <a:cubicBezTo>
                      <a:pt x="71075" y="422"/>
                      <a:pt x="74248" y="425"/>
                      <a:pt x="77419" y="425"/>
                    </a:cubicBezTo>
                    <a:cubicBezTo>
                      <a:pt x="80591" y="425"/>
                      <a:pt x="83761" y="422"/>
                      <a:pt x="86928" y="411"/>
                    </a:cubicBezTo>
                    <a:cubicBezTo>
                      <a:pt x="87178" y="411"/>
                      <a:pt x="87178" y="30"/>
                      <a:pt x="86928" y="30"/>
                    </a:cubicBezTo>
                    <a:cubicBezTo>
                      <a:pt x="82769" y="8"/>
                      <a:pt x="78609" y="0"/>
                      <a:pt x="7445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37" name="Google Shape;2410;p38">
                <a:extLst>
                  <a:ext uri="{FF2B5EF4-FFF2-40B4-BE49-F238E27FC236}">
                    <a16:creationId xmlns:a16="http://schemas.microsoft.com/office/drawing/2014/main" id="{4011F8C3-6D53-B79C-4AD8-C556B7C37BA8}"/>
                  </a:ext>
                </a:extLst>
              </p:cNvPr>
              <p:cNvSpPr/>
              <p:nvPr/>
            </p:nvSpPr>
            <p:spPr>
              <a:xfrm>
                <a:off x="6100348" y="1386931"/>
                <a:ext cx="10928" cy="575316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7583" extrusionOk="0">
                    <a:moveTo>
                      <a:pt x="161" y="0"/>
                    </a:moveTo>
                    <a:cubicBezTo>
                      <a:pt x="87" y="0"/>
                      <a:pt x="13" y="51"/>
                      <a:pt x="13" y="152"/>
                    </a:cubicBezTo>
                    <a:cubicBezTo>
                      <a:pt x="1" y="5939"/>
                      <a:pt x="48" y="11725"/>
                      <a:pt x="84" y="17512"/>
                    </a:cubicBezTo>
                    <a:cubicBezTo>
                      <a:pt x="90" y="17559"/>
                      <a:pt x="129" y="17583"/>
                      <a:pt x="167" y="17583"/>
                    </a:cubicBezTo>
                    <a:cubicBezTo>
                      <a:pt x="206" y="17583"/>
                      <a:pt x="245" y="17559"/>
                      <a:pt x="251" y="17512"/>
                    </a:cubicBezTo>
                    <a:cubicBezTo>
                      <a:pt x="286" y="11725"/>
                      <a:pt x="334" y="5939"/>
                      <a:pt x="310" y="152"/>
                    </a:cubicBezTo>
                    <a:cubicBezTo>
                      <a:pt x="310" y="51"/>
                      <a:pt x="236" y="0"/>
                      <a:pt x="1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38" name="Google Shape;2411;p38">
                <a:extLst>
                  <a:ext uri="{FF2B5EF4-FFF2-40B4-BE49-F238E27FC236}">
                    <a16:creationId xmlns:a16="http://schemas.microsoft.com/office/drawing/2014/main" id="{3903604F-FA83-6E0D-FBC4-B46CF9EE2087}"/>
                  </a:ext>
                </a:extLst>
              </p:cNvPr>
              <p:cNvSpPr/>
              <p:nvPr/>
            </p:nvSpPr>
            <p:spPr>
              <a:xfrm>
                <a:off x="3274780" y="1340730"/>
                <a:ext cx="2824030" cy="17505"/>
              </a:xfrm>
              <a:custGeom>
                <a:avLst/>
                <a:gdLst/>
                <a:ahLst/>
                <a:cxnLst/>
                <a:rect l="l" t="t" r="r" b="b"/>
                <a:pathLst>
                  <a:path w="86309" h="535" extrusionOk="0">
                    <a:moveTo>
                      <a:pt x="79849" y="0"/>
                    </a:moveTo>
                    <a:cubicBezTo>
                      <a:pt x="76327" y="0"/>
                      <a:pt x="72800" y="52"/>
                      <a:pt x="69283" y="52"/>
                    </a:cubicBezTo>
                    <a:cubicBezTo>
                      <a:pt x="63687" y="52"/>
                      <a:pt x="58079" y="52"/>
                      <a:pt x="52483" y="64"/>
                    </a:cubicBezTo>
                    <a:cubicBezTo>
                      <a:pt x="41327" y="64"/>
                      <a:pt x="30171" y="76"/>
                      <a:pt x="19027" y="100"/>
                    </a:cubicBezTo>
                    <a:cubicBezTo>
                      <a:pt x="12728" y="124"/>
                      <a:pt x="6430" y="135"/>
                      <a:pt x="143" y="159"/>
                    </a:cubicBezTo>
                    <a:cubicBezTo>
                      <a:pt x="1" y="159"/>
                      <a:pt x="1" y="374"/>
                      <a:pt x="143" y="374"/>
                    </a:cubicBezTo>
                    <a:cubicBezTo>
                      <a:pt x="11335" y="397"/>
                      <a:pt x="22539" y="421"/>
                      <a:pt x="33743" y="457"/>
                    </a:cubicBezTo>
                    <a:cubicBezTo>
                      <a:pt x="44899" y="469"/>
                      <a:pt x="56043" y="481"/>
                      <a:pt x="67199" y="481"/>
                    </a:cubicBezTo>
                    <a:cubicBezTo>
                      <a:pt x="71068" y="481"/>
                      <a:pt x="74946" y="535"/>
                      <a:pt x="78821" y="535"/>
                    </a:cubicBezTo>
                    <a:cubicBezTo>
                      <a:pt x="81243" y="535"/>
                      <a:pt x="83665" y="514"/>
                      <a:pt x="86083" y="445"/>
                    </a:cubicBezTo>
                    <a:cubicBezTo>
                      <a:pt x="86309" y="433"/>
                      <a:pt x="86309" y="100"/>
                      <a:pt x="86083" y="76"/>
                    </a:cubicBezTo>
                    <a:cubicBezTo>
                      <a:pt x="84009" y="18"/>
                      <a:pt x="81930" y="0"/>
                      <a:pt x="798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39" name="Google Shape;2412;p38">
                <a:extLst>
                  <a:ext uri="{FF2B5EF4-FFF2-40B4-BE49-F238E27FC236}">
                    <a16:creationId xmlns:a16="http://schemas.microsoft.com/office/drawing/2014/main" id="{33823329-D11E-C5D9-811E-D5A4C1DF2A60}"/>
                  </a:ext>
                </a:extLst>
              </p:cNvPr>
              <p:cNvSpPr/>
              <p:nvPr/>
            </p:nvSpPr>
            <p:spPr>
              <a:xfrm>
                <a:off x="2823538" y="1256673"/>
                <a:ext cx="223412" cy="164712"/>
              </a:xfrm>
              <a:custGeom>
                <a:avLst/>
                <a:gdLst/>
                <a:ahLst/>
                <a:cxnLst/>
                <a:rect l="l" t="t" r="r" b="b"/>
                <a:pathLst>
                  <a:path w="6828" h="5034" extrusionOk="0">
                    <a:moveTo>
                      <a:pt x="154" y="0"/>
                    </a:moveTo>
                    <a:cubicBezTo>
                      <a:pt x="73" y="0"/>
                      <a:pt x="0" y="105"/>
                      <a:pt x="76" y="180"/>
                    </a:cubicBezTo>
                    <a:lnTo>
                      <a:pt x="76" y="168"/>
                    </a:lnTo>
                    <a:cubicBezTo>
                      <a:pt x="2076" y="1990"/>
                      <a:pt x="4338" y="3514"/>
                      <a:pt x="6576" y="5014"/>
                    </a:cubicBezTo>
                    <a:cubicBezTo>
                      <a:pt x="6599" y="5027"/>
                      <a:pt x="6621" y="5033"/>
                      <a:pt x="6642" y="5033"/>
                    </a:cubicBezTo>
                    <a:cubicBezTo>
                      <a:pt x="6754" y="5033"/>
                      <a:pt x="6828" y="4868"/>
                      <a:pt x="6707" y="4788"/>
                    </a:cubicBezTo>
                    <a:cubicBezTo>
                      <a:pt x="4481" y="3300"/>
                      <a:pt x="2278" y="1764"/>
                      <a:pt x="218" y="26"/>
                    </a:cubicBezTo>
                    <a:cubicBezTo>
                      <a:pt x="198" y="8"/>
                      <a:pt x="176" y="0"/>
                      <a:pt x="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40" name="Google Shape;2413;p38">
                <a:extLst>
                  <a:ext uri="{FF2B5EF4-FFF2-40B4-BE49-F238E27FC236}">
                    <a16:creationId xmlns:a16="http://schemas.microsoft.com/office/drawing/2014/main" id="{1465D4DC-CEA6-F7DF-8CA4-52D264567042}"/>
                  </a:ext>
                </a:extLst>
              </p:cNvPr>
              <p:cNvSpPr/>
              <p:nvPr/>
            </p:nvSpPr>
            <p:spPr>
              <a:xfrm>
                <a:off x="2823538" y="1857837"/>
                <a:ext cx="223379" cy="164843"/>
              </a:xfrm>
              <a:custGeom>
                <a:avLst/>
                <a:gdLst/>
                <a:ahLst/>
                <a:cxnLst/>
                <a:rect l="l" t="t" r="r" b="b"/>
                <a:pathLst>
                  <a:path w="6827" h="5038" extrusionOk="0">
                    <a:moveTo>
                      <a:pt x="6646" y="1"/>
                    </a:moveTo>
                    <a:cubicBezTo>
                      <a:pt x="6624" y="1"/>
                      <a:pt x="6600" y="8"/>
                      <a:pt x="6576" y="24"/>
                    </a:cubicBezTo>
                    <a:cubicBezTo>
                      <a:pt x="4350" y="1524"/>
                      <a:pt x="2076" y="3048"/>
                      <a:pt x="76" y="4858"/>
                    </a:cubicBezTo>
                    <a:cubicBezTo>
                      <a:pt x="0" y="4933"/>
                      <a:pt x="73" y="5038"/>
                      <a:pt x="160" y="5038"/>
                    </a:cubicBezTo>
                    <a:cubicBezTo>
                      <a:pt x="183" y="5038"/>
                      <a:pt x="208" y="5030"/>
                      <a:pt x="230" y="5013"/>
                    </a:cubicBezTo>
                    <a:lnTo>
                      <a:pt x="218" y="5001"/>
                    </a:lnTo>
                    <a:cubicBezTo>
                      <a:pt x="2278" y="3274"/>
                      <a:pt x="4469" y="1726"/>
                      <a:pt x="6707" y="238"/>
                    </a:cubicBezTo>
                    <a:cubicBezTo>
                      <a:pt x="6826" y="169"/>
                      <a:pt x="6756" y="1"/>
                      <a:pt x="66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41" name="Google Shape;2414;p38">
                <a:extLst>
                  <a:ext uri="{FF2B5EF4-FFF2-40B4-BE49-F238E27FC236}">
                    <a16:creationId xmlns:a16="http://schemas.microsoft.com/office/drawing/2014/main" id="{64CA485F-DBAD-F044-E4B8-F991F8D0B985}"/>
                  </a:ext>
                </a:extLst>
              </p:cNvPr>
              <p:cNvSpPr/>
              <p:nvPr/>
            </p:nvSpPr>
            <p:spPr>
              <a:xfrm>
                <a:off x="2804168" y="1632298"/>
                <a:ext cx="235355" cy="8933"/>
              </a:xfrm>
              <a:custGeom>
                <a:avLst/>
                <a:gdLst/>
                <a:ahLst/>
                <a:cxnLst/>
                <a:rect l="l" t="t" r="r" b="b"/>
                <a:pathLst>
                  <a:path w="7193" h="273" extrusionOk="0">
                    <a:moveTo>
                      <a:pt x="1725" y="0"/>
                    </a:moveTo>
                    <a:cubicBezTo>
                      <a:pt x="1205" y="0"/>
                      <a:pt x="686" y="3"/>
                      <a:pt x="168" y="11"/>
                    </a:cubicBezTo>
                    <a:cubicBezTo>
                      <a:pt x="1" y="11"/>
                      <a:pt x="1" y="261"/>
                      <a:pt x="168" y="261"/>
                    </a:cubicBezTo>
                    <a:cubicBezTo>
                      <a:pt x="686" y="269"/>
                      <a:pt x="1205" y="273"/>
                      <a:pt x="1725" y="273"/>
                    </a:cubicBezTo>
                    <a:cubicBezTo>
                      <a:pt x="3507" y="273"/>
                      <a:pt x="5294" y="235"/>
                      <a:pt x="7073" y="226"/>
                    </a:cubicBezTo>
                    <a:cubicBezTo>
                      <a:pt x="7192" y="226"/>
                      <a:pt x="7192" y="47"/>
                      <a:pt x="7073" y="47"/>
                    </a:cubicBezTo>
                    <a:cubicBezTo>
                      <a:pt x="5294" y="38"/>
                      <a:pt x="3507" y="0"/>
                      <a:pt x="172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42" name="Google Shape;2415;p38">
                <a:extLst>
                  <a:ext uri="{FF2B5EF4-FFF2-40B4-BE49-F238E27FC236}">
                    <a16:creationId xmlns:a16="http://schemas.microsoft.com/office/drawing/2014/main" id="{306F7120-BEE2-917B-B717-A35B1230E424}"/>
                  </a:ext>
                </a:extLst>
              </p:cNvPr>
              <p:cNvSpPr/>
              <p:nvPr/>
            </p:nvSpPr>
            <p:spPr>
              <a:xfrm>
                <a:off x="6337143" y="1256673"/>
                <a:ext cx="223052" cy="164843"/>
              </a:xfrm>
              <a:custGeom>
                <a:avLst/>
                <a:gdLst/>
                <a:ahLst/>
                <a:cxnLst/>
                <a:rect l="l" t="t" r="r" b="b"/>
                <a:pathLst>
                  <a:path w="6817" h="5038" extrusionOk="0">
                    <a:moveTo>
                      <a:pt x="6663" y="0"/>
                    </a:moveTo>
                    <a:cubicBezTo>
                      <a:pt x="6641" y="0"/>
                      <a:pt x="6619" y="8"/>
                      <a:pt x="6599" y="26"/>
                    </a:cubicBezTo>
                    <a:lnTo>
                      <a:pt x="6599" y="37"/>
                    </a:lnTo>
                    <a:cubicBezTo>
                      <a:pt x="4539" y="1764"/>
                      <a:pt x="2348" y="3312"/>
                      <a:pt x="110" y="4800"/>
                    </a:cubicBezTo>
                    <a:cubicBezTo>
                      <a:pt x="1" y="4869"/>
                      <a:pt x="65" y="5037"/>
                      <a:pt x="172" y="5037"/>
                    </a:cubicBezTo>
                    <a:cubicBezTo>
                      <a:pt x="193" y="5037"/>
                      <a:pt x="217" y="5030"/>
                      <a:pt x="241" y="5014"/>
                    </a:cubicBezTo>
                    <a:cubicBezTo>
                      <a:pt x="2467" y="3514"/>
                      <a:pt x="4753" y="1990"/>
                      <a:pt x="6742" y="168"/>
                    </a:cubicBezTo>
                    <a:cubicBezTo>
                      <a:pt x="6817" y="103"/>
                      <a:pt x="6744" y="0"/>
                      <a:pt x="66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43" name="Google Shape;2416;p38">
                <a:extLst>
                  <a:ext uri="{FF2B5EF4-FFF2-40B4-BE49-F238E27FC236}">
                    <a16:creationId xmlns:a16="http://schemas.microsoft.com/office/drawing/2014/main" id="{9B715764-C5ED-BE4F-35DE-86178466A6C7}"/>
                  </a:ext>
                </a:extLst>
              </p:cNvPr>
              <p:cNvSpPr/>
              <p:nvPr/>
            </p:nvSpPr>
            <p:spPr>
              <a:xfrm>
                <a:off x="6337110" y="1857608"/>
                <a:ext cx="223478" cy="164680"/>
              </a:xfrm>
              <a:custGeom>
                <a:avLst/>
                <a:gdLst/>
                <a:ahLst/>
                <a:cxnLst/>
                <a:rect l="l" t="t" r="r" b="b"/>
                <a:pathLst>
                  <a:path w="6830" h="5033" extrusionOk="0">
                    <a:moveTo>
                      <a:pt x="181" y="0"/>
                    </a:moveTo>
                    <a:cubicBezTo>
                      <a:pt x="76" y="0"/>
                      <a:pt x="0" y="165"/>
                      <a:pt x="111" y="245"/>
                    </a:cubicBezTo>
                    <a:cubicBezTo>
                      <a:pt x="2349" y="1733"/>
                      <a:pt x="4552" y="3269"/>
                      <a:pt x="6600" y="5008"/>
                    </a:cubicBezTo>
                    <a:cubicBezTo>
                      <a:pt x="6622" y="5025"/>
                      <a:pt x="6647" y="5033"/>
                      <a:pt x="6670" y="5033"/>
                    </a:cubicBezTo>
                    <a:cubicBezTo>
                      <a:pt x="6757" y="5033"/>
                      <a:pt x="6830" y="4928"/>
                      <a:pt x="6754" y="4853"/>
                    </a:cubicBezTo>
                    <a:lnTo>
                      <a:pt x="6754" y="4853"/>
                    </a:lnTo>
                    <a:lnTo>
                      <a:pt x="6754" y="4865"/>
                    </a:lnTo>
                    <a:cubicBezTo>
                      <a:pt x="4754" y="3043"/>
                      <a:pt x="2480" y="1519"/>
                      <a:pt x="242" y="19"/>
                    </a:cubicBezTo>
                    <a:cubicBezTo>
                      <a:pt x="221" y="6"/>
                      <a:pt x="201" y="0"/>
                      <a:pt x="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  <p:sp>
            <p:nvSpPr>
              <p:cNvPr id="344" name="Google Shape;2417;p38">
                <a:extLst>
                  <a:ext uri="{FF2B5EF4-FFF2-40B4-BE49-F238E27FC236}">
                    <a16:creationId xmlns:a16="http://schemas.microsoft.com/office/drawing/2014/main" id="{AA68AC6F-48DE-58C3-E69D-7E1D40952DBB}"/>
                  </a:ext>
                </a:extLst>
              </p:cNvPr>
              <p:cNvSpPr/>
              <p:nvPr/>
            </p:nvSpPr>
            <p:spPr>
              <a:xfrm>
                <a:off x="6344210" y="1632298"/>
                <a:ext cx="235355" cy="8933"/>
              </a:xfrm>
              <a:custGeom>
                <a:avLst/>
                <a:gdLst/>
                <a:ahLst/>
                <a:cxnLst/>
                <a:rect l="l" t="t" r="r" b="b"/>
                <a:pathLst>
                  <a:path w="7193" h="273" extrusionOk="0">
                    <a:moveTo>
                      <a:pt x="5474" y="0"/>
                    </a:moveTo>
                    <a:cubicBezTo>
                      <a:pt x="3686" y="0"/>
                      <a:pt x="1899" y="38"/>
                      <a:pt x="120" y="47"/>
                    </a:cubicBezTo>
                    <a:cubicBezTo>
                      <a:pt x="1" y="47"/>
                      <a:pt x="1" y="226"/>
                      <a:pt x="120" y="226"/>
                    </a:cubicBezTo>
                    <a:cubicBezTo>
                      <a:pt x="1899" y="235"/>
                      <a:pt x="3686" y="273"/>
                      <a:pt x="5474" y="273"/>
                    </a:cubicBezTo>
                    <a:cubicBezTo>
                      <a:pt x="5995" y="273"/>
                      <a:pt x="6516" y="269"/>
                      <a:pt x="7038" y="261"/>
                    </a:cubicBezTo>
                    <a:cubicBezTo>
                      <a:pt x="7192" y="261"/>
                      <a:pt x="7192" y="11"/>
                      <a:pt x="7038" y="11"/>
                    </a:cubicBezTo>
                    <a:cubicBezTo>
                      <a:pt x="6516" y="3"/>
                      <a:pt x="5995" y="0"/>
                      <a:pt x="54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4533"/>
              </a:p>
            </p:txBody>
          </p:sp>
        </p:grpSp>
        <p:sp>
          <p:nvSpPr>
            <p:cNvPr id="334" name="Google Shape;2418;p38">
              <a:extLst>
                <a:ext uri="{FF2B5EF4-FFF2-40B4-BE49-F238E27FC236}">
                  <a16:creationId xmlns:a16="http://schemas.microsoft.com/office/drawing/2014/main" id="{9DE27010-523F-7219-04C0-DB40A11020D0}"/>
                </a:ext>
              </a:extLst>
            </p:cNvPr>
            <p:cNvSpPr txBox="1"/>
            <p:nvPr/>
          </p:nvSpPr>
          <p:spPr>
            <a:xfrm>
              <a:off x="3115702" y="1580248"/>
              <a:ext cx="27726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43800" rIns="0" bIns="243800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" sz="3500" b="1" dirty="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Ridge Regression</a:t>
              </a:r>
              <a:endParaRPr sz="3500" b="1" dirty="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370" name="Google Shape;2353;p38">
            <a:extLst>
              <a:ext uri="{FF2B5EF4-FFF2-40B4-BE49-F238E27FC236}">
                <a16:creationId xmlns:a16="http://schemas.microsoft.com/office/drawing/2014/main" id="{813CA5C8-1F29-30E0-3D0D-8205883EF241}"/>
              </a:ext>
            </a:extLst>
          </p:cNvPr>
          <p:cNvGrpSpPr/>
          <p:nvPr/>
        </p:nvGrpSpPr>
        <p:grpSpPr>
          <a:xfrm rot="14952057">
            <a:off x="3274918" y="3802311"/>
            <a:ext cx="791400" cy="388939"/>
            <a:chOff x="2759375" y="2507427"/>
            <a:chExt cx="1165650" cy="521099"/>
          </a:xfrm>
        </p:grpSpPr>
        <p:sp>
          <p:nvSpPr>
            <p:cNvPr id="371" name="Google Shape;2354;p38">
              <a:extLst>
                <a:ext uri="{FF2B5EF4-FFF2-40B4-BE49-F238E27FC236}">
                  <a16:creationId xmlns:a16="http://schemas.microsoft.com/office/drawing/2014/main" id="{AA5C6AB3-764E-4F6F-613C-A806CD5B8C9C}"/>
                </a:ext>
              </a:extLst>
            </p:cNvPr>
            <p:cNvSpPr/>
            <p:nvPr/>
          </p:nvSpPr>
          <p:spPr>
            <a:xfrm>
              <a:off x="2801911" y="2594659"/>
              <a:ext cx="1123114" cy="433867"/>
            </a:xfrm>
            <a:custGeom>
              <a:avLst/>
              <a:gdLst/>
              <a:ahLst/>
              <a:cxnLst/>
              <a:rect l="l" t="t" r="r" b="b"/>
              <a:pathLst>
                <a:path w="34325" h="13260" extrusionOk="0">
                  <a:moveTo>
                    <a:pt x="149" y="1"/>
                  </a:moveTo>
                  <a:cubicBezTo>
                    <a:pt x="36" y="1"/>
                    <a:pt x="1" y="180"/>
                    <a:pt x="129" y="234"/>
                  </a:cubicBezTo>
                  <a:lnTo>
                    <a:pt x="117" y="234"/>
                  </a:lnTo>
                  <a:cubicBezTo>
                    <a:pt x="5737" y="2484"/>
                    <a:pt x="11405" y="4615"/>
                    <a:pt x="17048" y="6770"/>
                  </a:cubicBezTo>
                  <a:cubicBezTo>
                    <a:pt x="22704" y="8937"/>
                    <a:pt x="28335" y="11128"/>
                    <a:pt x="34003" y="13247"/>
                  </a:cubicBezTo>
                  <a:cubicBezTo>
                    <a:pt x="34026" y="13255"/>
                    <a:pt x="34048" y="13259"/>
                    <a:pt x="34068" y="13259"/>
                  </a:cubicBezTo>
                  <a:cubicBezTo>
                    <a:pt x="34258" y="13259"/>
                    <a:pt x="34325" y="12940"/>
                    <a:pt x="34110" y="12854"/>
                  </a:cubicBezTo>
                  <a:cubicBezTo>
                    <a:pt x="28478" y="10652"/>
                    <a:pt x="22811" y="8533"/>
                    <a:pt x="17155" y="6389"/>
                  </a:cubicBezTo>
                  <a:cubicBezTo>
                    <a:pt x="11500" y="4246"/>
                    <a:pt x="5868" y="2067"/>
                    <a:pt x="189" y="8"/>
                  </a:cubicBezTo>
                  <a:cubicBezTo>
                    <a:pt x="175" y="3"/>
                    <a:pt x="162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 dirty="0"/>
            </a:p>
          </p:txBody>
        </p:sp>
        <p:sp>
          <p:nvSpPr>
            <p:cNvPr id="372" name="Google Shape;2355;p38">
              <a:extLst>
                <a:ext uri="{FF2B5EF4-FFF2-40B4-BE49-F238E27FC236}">
                  <a16:creationId xmlns:a16="http://schemas.microsoft.com/office/drawing/2014/main" id="{0F738335-380A-0D7B-EC4A-7917E4C1000F}"/>
                </a:ext>
              </a:extLst>
            </p:cNvPr>
            <p:cNvSpPr/>
            <p:nvPr/>
          </p:nvSpPr>
          <p:spPr>
            <a:xfrm>
              <a:off x="2759375" y="2507427"/>
              <a:ext cx="149956" cy="191739"/>
            </a:xfrm>
            <a:custGeom>
              <a:avLst/>
              <a:gdLst/>
              <a:ahLst/>
              <a:cxnLst/>
              <a:rect l="l" t="t" r="r" b="b"/>
              <a:pathLst>
                <a:path w="4583" h="5860" extrusionOk="0">
                  <a:moveTo>
                    <a:pt x="4404" y="1"/>
                  </a:moveTo>
                  <a:cubicBezTo>
                    <a:pt x="4377" y="1"/>
                    <a:pt x="4348" y="10"/>
                    <a:pt x="4323" y="30"/>
                  </a:cubicBezTo>
                  <a:cubicBezTo>
                    <a:pt x="3037" y="1126"/>
                    <a:pt x="1834" y="2233"/>
                    <a:pt x="108" y="2495"/>
                  </a:cubicBezTo>
                  <a:cubicBezTo>
                    <a:pt x="24" y="2519"/>
                    <a:pt x="1" y="2614"/>
                    <a:pt x="48" y="2674"/>
                  </a:cubicBezTo>
                  <a:cubicBezTo>
                    <a:pt x="1132" y="3567"/>
                    <a:pt x="2060" y="4638"/>
                    <a:pt x="2810" y="5817"/>
                  </a:cubicBezTo>
                  <a:cubicBezTo>
                    <a:pt x="2826" y="5847"/>
                    <a:pt x="2849" y="5859"/>
                    <a:pt x="2873" y="5859"/>
                  </a:cubicBezTo>
                  <a:cubicBezTo>
                    <a:pt x="2923" y="5859"/>
                    <a:pt x="2974" y="5802"/>
                    <a:pt x="2941" y="5745"/>
                  </a:cubicBezTo>
                  <a:cubicBezTo>
                    <a:pt x="2230" y="4571"/>
                    <a:pt x="1326" y="3622"/>
                    <a:pt x="361" y="2674"/>
                  </a:cubicBezTo>
                  <a:lnTo>
                    <a:pt x="361" y="2674"/>
                  </a:lnTo>
                  <a:cubicBezTo>
                    <a:pt x="1992" y="2386"/>
                    <a:pt x="3306" y="1335"/>
                    <a:pt x="4489" y="209"/>
                  </a:cubicBezTo>
                  <a:cubicBezTo>
                    <a:pt x="4582" y="116"/>
                    <a:pt x="4501" y="1"/>
                    <a:pt x="44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/>
            </a:p>
          </p:txBody>
        </p:sp>
      </p:grpSp>
      <p:grpSp>
        <p:nvGrpSpPr>
          <p:cNvPr id="391" name="Google Shape;2388;p38">
            <a:extLst>
              <a:ext uri="{FF2B5EF4-FFF2-40B4-BE49-F238E27FC236}">
                <a16:creationId xmlns:a16="http://schemas.microsoft.com/office/drawing/2014/main" id="{83CCF2E4-2F56-FB7B-CA02-F581B63F2E4A}"/>
              </a:ext>
            </a:extLst>
          </p:cNvPr>
          <p:cNvGrpSpPr/>
          <p:nvPr/>
        </p:nvGrpSpPr>
        <p:grpSpPr>
          <a:xfrm>
            <a:off x="8099446" y="4624299"/>
            <a:ext cx="7530747" cy="2779368"/>
            <a:chOff x="857627" y="3528651"/>
            <a:chExt cx="1508065" cy="1042263"/>
          </a:xfrm>
        </p:grpSpPr>
        <p:grpSp>
          <p:nvGrpSpPr>
            <p:cNvPr id="392" name="Google Shape;2389;p38">
              <a:extLst>
                <a:ext uri="{FF2B5EF4-FFF2-40B4-BE49-F238E27FC236}">
                  <a16:creationId xmlns:a16="http://schemas.microsoft.com/office/drawing/2014/main" id="{0F7DBFB4-E34B-3147-D5F3-17410ABADDD5}"/>
                </a:ext>
              </a:extLst>
            </p:cNvPr>
            <p:cNvGrpSpPr/>
            <p:nvPr/>
          </p:nvGrpSpPr>
          <p:grpSpPr>
            <a:xfrm>
              <a:off x="857627" y="3528651"/>
              <a:ext cx="1508065" cy="1042263"/>
              <a:chOff x="1052702" y="3528651"/>
              <a:chExt cx="1508065" cy="1042263"/>
            </a:xfrm>
          </p:grpSpPr>
          <p:sp>
            <p:nvSpPr>
              <p:cNvPr id="396" name="Google Shape;2390;p38">
                <a:extLst>
                  <a:ext uri="{FF2B5EF4-FFF2-40B4-BE49-F238E27FC236}">
                    <a16:creationId xmlns:a16="http://schemas.microsoft.com/office/drawing/2014/main" id="{9D835D40-24CA-58B5-5376-F296F6EAEE9B}"/>
                  </a:ext>
                </a:extLst>
              </p:cNvPr>
              <p:cNvSpPr/>
              <p:nvPr/>
            </p:nvSpPr>
            <p:spPr>
              <a:xfrm>
                <a:off x="1052702" y="3650926"/>
                <a:ext cx="14462" cy="917076"/>
              </a:xfrm>
              <a:custGeom>
                <a:avLst/>
                <a:gdLst/>
                <a:ahLst/>
                <a:cxnLst/>
                <a:rect l="l" t="t" r="r" b="b"/>
                <a:pathLst>
                  <a:path w="442" h="28028" extrusionOk="0">
                    <a:moveTo>
                      <a:pt x="227" y="0"/>
                    </a:moveTo>
                    <a:cubicBezTo>
                      <a:pt x="179" y="0"/>
                      <a:pt x="132" y="33"/>
                      <a:pt x="132" y="99"/>
                    </a:cubicBezTo>
                    <a:cubicBezTo>
                      <a:pt x="132" y="4730"/>
                      <a:pt x="132" y="9362"/>
                      <a:pt x="120" y="14005"/>
                    </a:cubicBezTo>
                    <a:cubicBezTo>
                      <a:pt x="120" y="18637"/>
                      <a:pt x="1" y="23280"/>
                      <a:pt x="96" y="27912"/>
                    </a:cubicBezTo>
                    <a:cubicBezTo>
                      <a:pt x="102" y="27989"/>
                      <a:pt x="161" y="28028"/>
                      <a:pt x="222" y="28028"/>
                    </a:cubicBezTo>
                    <a:cubicBezTo>
                      <a:pt x="283" y="28028"/>
                      <a:pt x="346" y="27989"/>
                      <a:pt x="358" y="27912"/>
                    </a:cubicBezTo>
                    <a:cubicBezTo>
                      <a:pt x="441" y="23280"/>
                      <a:pt x="334" y="18637"/>
                      <a:pt x="334" y="14005"/>
                    </a:cubicBezTo>
                    <a:cubicBezTo>
                      <a:pt x="322" y="9374"/>
                      <a:pt x="334" y="4730"/>
                      <a:pt x="322" y="99"/>
                    </a:cubicBezTo>
                    <a:cubicBezTo>
                      <a:pt x="322" y="33"/>
                      <a:pt x="274" y="0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397" name="Google Shape;2391;p38">
                <a:extLst>
                  <a:ext uri="{FF2B5EF4-FFF2-40B4-BE49-F238E27FC236}">
                    <a16:creationId xmlns:a16="http://schemas.microsoft.com/office/drawing/2014/main" id="{13293D17-0048-3B9A-A9FE-9D334351AD50}"/>
                  </a:ext>
                </a:extLst>
              </p:cNvPr>
              <p:cNvSpPr/>
              <p:nvPr/>
            </p:nvSpPr>
            <p:spPr>
              <a:xfrm>
                <a:off x="1056203" y="4556223"/>
                <a:ext cx="1504564" cy="14691"/>
              </a:xfrm>
              <a:custGeom>
                <a:avLst/>
                <a:gdLst/>
                <a:ahLst/>
                <a:cxnLst/>
                <a:rect l="l" t="t" r="r" b="b"/>
                <a:pathLst>
                  <a:path w="45983" h="449" extrusionOk="0">
                    <a:moveTo>
                      <a:pt x="33047" y="1"/>
                    </a:moveTo>
                    <a:cubicBezTo>
                      <a:pt x="25425" y="1"/>
                      <a:pt x="17804" y="46"/>
                      <a:pt x="10193" y="77"/>
                    </a:cubicBezTo>
                    <a:cubicBezTo>
                      <a:pt x="6835" y="101"/>
                      <a:pt x="3477" y="125"/>
                      <a:pt x="120" y="160"/>
                    </a:cubicBezTo>
                    <a:cubicBezTo>
                      <a:pt x="1" y="160"/>
                      <a:pt x="1" y="327"/>
                      <a:pt x="120" y="327"/>
                    </a:cubicBezTo>
                    <a:cubicBezTo>
                      <a:pt x="11967" y="434"/>
                      <a:pt x="23813" y="434"/>
                      <a:pt x="35660" y="446"/>
                    </a:cubicBezTo>
                    <a:cubicBezTo>
                      <a:pt x="37339" y="446"/>
                      <a:pt x="39018" y="449"/>
                      <a:pt x="40696" y="449"/>
                    </a:cubicBezTo>
                    <a:cubicBezTo>
                      <a:pt x="42375" y="449"/>
                      <a:pt x="44054" y="446"/>
                      <a:pt x="45733" y="434"/>
                    </a:cubicBezTo>
                    <a:cubicBezTo>
                      <a:pt x="45983" y="434"/>
                      <a:pt x="45983" y="53"/>
                      <a:pt x="45733" y="53"/>
                    </a:cubicBezTo>
                    <a:cubicBezTo>
                      <a:pt x="41505" y="15"/>
                      <a:pt x="37276" y="1"/>
                      <a:pt x="330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398" name="Google Shape;2392;p38">
                <a:extLst>
                  <a:ext uri="{FF2B5EF4-FFF2-40B4-BE49-F238E27FC236}">
                    <a16:creationId xmlns:a16="http://schemas.microsoft.com/office/drawing/2014/main" id="{460DA877-C49B-31C6-B324-5997EC863A58}"/>
                  </a:ext>
                </a:extLst>
              </p:cNvPr>
              <p:cNvSpPr/>
              <p:nvPr/>
            </p:nvSpPr>
            <p:spPr>
              <a:xfrm>
                <a:off x="2539695" y="3602435"/>
                <a:ext cx="10961" cy="940733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8751" extrusionOk="0">
                    <a:moveTo>
                      <a:pt x="161" y="0"/>
                    </a:moveTo>
                    <a:cubicBezTo>
                      <a:pt x="87" y="0"/>
                      <a:pt x="13" y="51"/>
                      <a:pt x="13" y="152"/>
                    </a:cubicBezTo>
                    <a:cubicBezTo>
                      <a:pt x="1" y="9653"/>
                      <a:pt x="48" y="19166"/>
                      <a:pt x="84" y="28679"/>
                    </a:cubicBezTo>
                    <a:cubicBezTo>
                      <a:pt x="90" y="28727"/>
                      <a:pt x="129" y="28751"/>
                      <a:pt x="167" y="28751"/>
                    </a:cubicBezTo>
                    <a:cubicBezTo>
                      <a:pt x="206" y="28751"/>
                      <a:pt x="245" y="28727"/>
                      <a:pt x="251" y="28679"/>
                    </a:cubicBezTo>
                    <a:cubicBezTo>
                      <a:pt x="287" y="19166"/>
                      <a:pt x="334" y="9653"/>
                      <a:pt x="310" y="152"/>
                    </a:cubicBezTo>
                    <a:cubicBezTo>
                      <a:pt x="310" y="51"/>
                      <a:pt x="236" y="0"/>
                      <a:pt x="1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399" name="Google Shape;2393;p38">
                <a:extLst>
                  <a:ext uri="{FF2B5EF4-FFF2-40B4-BE49-F238E27FC236}">
                    <a16:creationId xmlns:a16="http://schemas.microsoft.com/office/drawing/2014/main" id="{0951B0D4-A035-4481-28EA-C47D10F94AEF}"/>
                  </a:ext>
                </a:extLst>
              </p:cNvPr>
              <p:cNvSpPr/>
              <p:nvPr/>
            </p:nvSpPr>
            <p:spPr>
              <a:xfrm>
                <a:off x="1055418" y="3528651"/>
                <a:ext cx="1489382" cy="17440"/>
              </a:xfrm>
              <a:custGeom>
                <a:avLst/>
                <a:gdLst/>
                <a:ahLst/>
                <a:cxnLst/>
                <a:rect l="l" t="t" r="r" b="b"/>
                <a:pathLst>
                  <a:path w="45519" h="533" extrusionOk="0">
                    <a:moveTo>
                      <a:pt x="41893" y="1"/>
                    </a:moveTo>
                    <a:cubicBezTo>
                      <a:pt x="40103" y="1"/>
                      <a:pt x="38312" y="50"/>
                      <a:pt x="36529" y="50"/>
                    </a:cubicBezTo>
                    <a:cubicBezTo>
                      <a:pt x="33624" y="50"/>
                      <a:pt x="30695" y="50"/>
                      <a:pt x="27766" y="61"/>
                    </a:cubicBezTo>
                    <a:cubicBezTo>
                      <a:pt x="21873" y="61"/>
                      <a:pt x="15979" y="73"/>
                      <a:pt x="10097" y="97"/>
                    </a:cubicBezTo>
                    <a:cubicBezTo>
                      <a:pt x="6776" y="121"/>
                      <a:pt x="3454" y="145"/>
                      <a:pt x="144" y="157"/>
                    </a:cubicBezTo>
                    <a:cubicBezTo>
                      <a:pt x="1" y="157"/>
                      <a:pt x="1" y="371"/>
                      <a:pt x="144" y="371"/>
                    </a:cubicBezTo>
                    <a:cubicBezTo>
                      <a:pt x="11871" y="419"/>
                      <a:pt x="23611" y="454"/>
                      <a:pt x="35351" y="478"/>
                    </a:cubicBezTo>
                    <a:cubicBezTo>
                      <a:pt x="37380" y="478"/>
                      <a:pt x="39428" y="532"/>
                      <a:pt x="41474" y="532"/>
                    </a:cubicBezTo>
                    <a:cubicBezTo>
                      <a:pt x="42753" y="532"/>
                      <a:pt x="44031" y="511"/>
                      <a:pt x="45304" y="442"/>
                    </a:cubicBezTo>
                    <a:cubicBezTo>
                      <a:pt x="45519" y="431"/>
                      <a:pt x="45519" y="97"/>
                      <a:pt x="45304" y="85"/>
                    </a:cubicBezTo>
                    <a:cubicBezTo>
                      <a:pt x="44170" y="20"/>
                      <a:pt x="43032" y="1"/>
                      <a:pt x="418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</p:grpSp>
        <p:grpSp>
          <p:nvGrpSpPr>
            <p:cNvPr id="393" name="Google Shape;2394;p38">
              <a:extLst>
                <a:ext uri="{FF2B5EF4-FFF2-40B4-BE49-F238E27FC236}">
                  <a16:creationId xmlns:a16="http://schemas.microsoft.com/office/drawing/2014/main" id="{05444CF7-20B5-495E-81ED-BE5327D43878}"/>
                </a:ext>
              </a:extLst>
            </p:cNvPr>
            <p:cNvGrpSpPr/>
            <p:nvPr/>
          </p:nvGrpSpPr>
          <p:grpSpPr>
            <a:xfrm>
              <a:off x="921775" y="3718040"/>
              <a:ext cx="1387041" cy="575861"/>
              <a:chOff x="442777" y="2651768"/>
              <a:chExt cx="1302753" cy="575861"/>
            </a:xfrm>
          </p:grpSpPr>
          <p:sp>
            <p:nvSpPr>
              <p:cNvPr id="394" name="Google Shape;2395;p38">
                <a:extLst>
                  <a:ext uri="{FF2B5EF4-FFF2-40B4-BE49-F238E27FC236}">
                    <a16:creationId xmlns:a16="http://schemas.microsoft.com/office/drawing/2014/main" id="{FD705A10-1639-EFA2-5CF3-7620F46BB3A1}"/>
                  </a:ext>
                </a:extLst>
              </p:cNvPr>
              <p:cNvSpPr txBox="1"/>
              <p:nvPr/>
            </p:nvSpPr>
            <p:spPr>
              <a:xfrm>
                <a:off x="442777" y="2651768"/>
                <a:ext cx="1296000" cy="2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43800" rIns="0" bIns="24380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</a:pPr>
                <a:endParaRPr sz="11733" b="1" dirty="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395" name="Google Shape;2396;p38">
                <a:extLst>
                  <a:ext uri="{FF2B5EF4-FFF2-40B4-BE49-F238E27FC236}">
                    <a16:creationId xmlns:a16="http://schemas.microsoft.com/office/drawing/2014/main" id="{E182003E-A55D-F1B7-D0AE-3DC2006E2154}"/>
                  </a:ext>
                </a:extLst>
              </p:cNvPr>
              <p:cNvSpPr txBox="1"/>
              <p:nvPr/>
            </p:nvSpPr>
            <p:spPr>
              <a:xfrm>
                <a:off x="449530" y="2785429"/>
                <a:ext cx="1296000" cy="4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43800" rIns="0" bIns="24380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If </a:t>
                </a:r>
                <a:r>
                  <a:rPr lang="en-US" sz="3200" dirty="0">
                    <a:solidFill>
                      <a:srgbClr val="FF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majority of correlations with response are small</a:t>
                </a:r>
                <a:r>
                  <a:rPr lang="en-US" sz="32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</a:p>
              <a:p>
                <a:pPr algn="ctr"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PLS is not effective</a:t>
                </a:r>
              </a:p>
            </p:txBody>
          </p:sp>
        </p:grpSp>
      </p:grpSp>
      <p:grpSp>
        <p:nvGrpSpPr>
          <p:cNvPr id="408" name="Google Shape;2365;p38">
            <a:extLst>
              <a:ext uri="{FF2B5EF4-FFF2-40B4-BE49-F238E27FC236}">
                <a16:creationId xmlns:a16="http://schemas.microsoft.com/office/drawing/2014/main" id="{65028863-A01A-3B63-82FB-39E37052A84D}"/>
              </a:ext>
            </a:extLst>
          </p:cNvPr>
          <p:cNvGrpSpPr/>
          <p:nvPr/>
        </p:nvGrpSpPr>
        <p:grpSpPr>
          <a:xfrm>
            <a:off x="16466331" y="8857540"/>
            <a:ext cx="7842689" cy="2779629"/>
            <a:chOff x="872381" y="2245700"/>
            <a:chExt cx="1508065" cy="1042361"/>
          </a:xfrm>
        </p:grpSpPr>
        <p:grpSp>
          <p:nvGrpSpPr>
            <p:cNvPr id="409" name="Google Shape;2366;p38">
              <a:extLst>
                <a:ext uri="{FF2B5EF4-FFF2-40B4-BE49-F238E27FC236}">
                  <a16:creationId xmlns:a16="http://schemas.microsoft.com/office/drawing/2014/main" id="{1DE4360B-EAD7-91D3-8956-0C46BCDF5096}"/>
                </a:ext>
              </a:extLst>
            </p:cNvPr>
            <p:cNvGrpSpPr/>
            <p:nvPr/>
          </p:nvGrpSpPr>
          <p:grpSpPr>
            <a:xfrm>
              <a:off x="872381" y="2245700"/>
              <a:ext cx="1508065" cy="1042361"/>
              <a:chOff x="1067456" y="2245700"/>
              <a:chExt cx="1508065" cy="1042361"/>
            </a:xfrm>
          </p:grpSpPr>
          <p:sp>
            <p:nvSpPr>
              <p:cNvPr id="413" name="Google Shape;2367;p38">
                <a:extLst>
                  <a:ext uri="{FF2B5EF4-FFF2-40B4-BE49-F238E27FC236}">
                    <a16:creationId xmlns:a16="http://schemas.microsoft.com/office/drawing/2014/main" id="{BD5C03A6-302D-9193-B023-D5F935AE63E0}"/>
                  </a:ext>
                </a:extLst>
              </p:cNvPr>
              <p:cNvSpPr/>
              <p:nvPr/>
            </p:nvSpPr>
            <p:spPr>
              <a:xfrm>
                <a:off x="1067456" y="2367975"/>
                <a:ext cx="14462" cy="917174"/>
              </a:xfrm>
              <a:custGeom>
                <a:avLst/>
                <a:gdLst/>
                <a:ahLst/>
                <a:cxnLst/>
                <a:rect l="l" t="t" r="r" b="b"/>
                <a:pathLst>
                  <a:path w="442" h="28031" extrusionOk="0">
                    <a:moveTo>
                      <a:pt x="215" y="0"/>
                    </a:moveTo>
                    <a:cubicBezTo>
                      <a:pt x="167" y="0"/>
                      <a:pt x="120" y="30"/>
                      <a:pt x="120" y="90"/>
                    </a:cubicBezTo>
                    <a:cubicBezTo>
                      <a:pt x="120" y="4733"/>
                      <a:pt x="120" y="9365"/>
                      <a:pt x="120" y="14008"/>
                    </a:cubicBezTo>
                    <a:cubicBezTo>
                      <a:pt x="120" y="18639"/>
                      <a:pt x="1" y="23283"/>
                      <a:pt x="84" y="27914"/>
                    </a:cubicBezTo>
                    <a:cubicBezTo>
                      <a:pt x="96" y="27992"/>
                      <a:pt x="159" y="28031"/>
                      <a:pt x="220" y="28031"/>
                    </a:cubicBezTo>
                    <a:cubicBezTo>
                      <a:pt x="281" y="28031"/>
                      <a:pt x="340" y="27992"/>
                      <a:pt x="346" y="27914"/>
                    </a:cubicBezTo>
                    <a:cubicBezTo>
                      <a:pt x="441" y="23283"/>
                      <a:pt x="322" y="18639"/>
                      <a:pt x="322" y="14008"/>
                    </a:cubicBezTo>
                    <a:cubicBezTo>
                      <a:pt x="322" y="9376"/>
                      <a:pt x="322" y="4733"/>
                      <a:pt x="310" y="90"/>
                    </a:cubicBezTo>
                    <a:cubicBezTo>
                      <a:pt x="310" y="30"/>
                      <a:pt x="263" y="0"/>
                      <a:pt x="2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414" name="Google Shape;2368;p38">
                <a:extLst>
                  <a:ext uri="{FF2B5EF4-FFF2-40B4-BE49-F238E27FC236}">
                    <a16:creationId xmlns:a16="http://schemas.microsoft.com/office/drawing/2014/main" id="{124B0338-A1B5-8D2B-1278-11E49C4B23B3}"/>
                  </a:ext>
                </a:extLst>
              </p:cNvPr>
              <p:cNvSpPr/>
              <p:nvPr/>
            </p:nvSpPr>
            <p:spPr>
              <a:xfrm>
                <a:off x="1070957" y="3273370"/>
                <a:ext cx="1504564" cy="14691"/>
              </a:xfrm>
              <a:custGeom>
                <a:avLst/>
                <a:gdLst/>
                <a:ahLst/>
                <a:cxnLst/>
                <a:rect l="l" t="t" r="r" b="b"/>
                <a:pathLst>
                  <a:path w="45983" h="449" extrusionOk="0">
                    <a:moveTo>
                      <a:pt x="33046" y="1"/>
                    </a:moveTo>
                    <a:cubicBezTo>
                      <a:pt x="25424" y="1"/>
                      <a:pt x="17800" y="46"/>
                      <a:pt x="10181" y="77"/>
                    </a:cubicBezTo>
                    <a:cubicBezTo>
                      <a:pt x="6823" y="101"/>
                      <a:pt x="3478" y="124"/>
                      <a:pt x="120" y="160"/>
                    </a:cubicBezTo>
                    <a:cubicBezTo>
                      <a:pt x="1" y="160"/>
                      <a:pt x="1" y="327"/>
                      <a:pt x="120" y="327"/>
                    </a:cubicBezTo>
                    <a:cubicBezTo>
                      <a:pt x="11967" y="434"/>
                      <a:pt x="23813" y="434"/>
                      <a:pt x="35660" y="446"/>
                    </a:cubicBezTo>
                    <a:cubicBezTo>
                      <a:pt x="37339" y="446"/>
                      <a:pt x="39018" y="449"/>
                      <a:pt x="40696" y="449"/>
                    </a:cubicBezTo>
                    <a:cubicBezTo>
                      <a:pt x="42375" y="449"/>
                      <a:pt x="44054" y="446"/>
                      <a:pt x="45733" y="434"/>
                    </a:cubicBezTo>
                    <a:cubicBezTo>
                      <a:pt x="45983" y="434"/>
                      <a:pt x="45983" y="53"/>
                      <a:pt x="45733" y="53"/>
                    </a:cubicBezTo>
                    <a:cubicBezTo>
                      <a:pt x="41505" y="15"/>
                      <a:pt x="37276" y="1"/>
                      <a:pt x="33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415" name="Google Shape;2369;p38">
                <a:extLst>
                  <a:ext uri="{FF2B5EF4-FFF2-40B4-BE49-F238E27FC236}">
                    <a16:creationId xmlns:a16="http://schemas.microsoft.com/office/drawing/2014/main" id="{49D15174-8D4A-3337-CCA1-A9C0D33472DC}"/>
                  </a:ext>
                </a:extLst>
              </p:cNvPr>
              <p:cNvSpPr/>
              <p:nvPr/>
            </p:nvSpPr>
            <p:spPr>
              <a:xfrm>
                <a:off x="2554089" y="2319549"/>
                <a:ext cx="11321" cy="940765"/>
              </a:xfrm>
              <a:custGeom>
                <a:avLst/>
                <a:gdLst/>
                <a:ahLst/>
                <a:cxnLst/>
                <a:rect l="l" t="t" r="r" b="b"/>
                <a:pathLst>
                  <a:path w="346" h="28752" extrusionOk="0">
                    <a:moveTo>
                      <a:pt x="173" y="1"/>
                    </a:moveTo>
                    <a:cubicBezTo>
                      <a:pt x="98" y="1"/>
                      <a:pt x="24" y="52"/>
                      <a:pt x="24" y="153"/>
                    </a:cubicBezTo>
                    <a:cubicBezTo>
                      <a:pt x="0" y="9654"/>
                      <a:pt x="60" y="19167"/>
                      <a:pt x="95" y="28680"/>
                    </a:cubicBezTo>
                    <a:cubicBezTo>
                      <a:pt x="101" y="28728"/>
                      <a:pt x="137" y="28751"/>
                      <a:pt x="173" y="28751"/>
                    </a:cubicBezTo>
                    <a:cubicBezTo>
                      <a:pt x="208" y="28751"/>
                      <a:pt x="244" y="28728"/>
                      <a:pt x="250" y="28680"/>
                    </a:cubicBezTo>
                    <a:cubicBezTo>
                      <a:pt x="286" y="19167"/>
                      <a:pt x="345" y="9654"/>
                      <a:pt x="321" y="153"/>
                    </a:cubicBezTo>
                    <a:cubicBezTo>
                      <a:pt x="321" y="52"/>
                      <a:pt x="247" y="1"/>
                      <a:pt x="1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416" name="Google Shape;2370;p38">
                <a:extLst>
                  <a:ext uri="{FF2B5EF4-FFF2-40B4-BE49-F238E27FC236}">
                    <a16:creationId xmlns:a16="http://schemas.microsoft.com/office/drawing/2014/main" id="{C9318060-8288-7CC2-26CD-096EC01DB445}"/>
                  </a:ext>
                </a:extLst>
              </p:cNvPr>
              <p:cNvSpPr/>
              <p:nvPr/>
            </p:nvSpPr>
            <p:spPr>
              <a:xfrm>
                <a:off x="1070205" y="2245700"/>
                <a:ext cx="1489349" cy="17538"/>
              </a:xfrm>
              <a:custGeom>
                <a:avLst/>
                <a:gdLst/>
                <a:ahLst/>
                <a:cxnLst/>
                <a:rect l="l" t="t" r="r" b="b"/>
                <a:pathLst>
                  <a:path w="45518" h="536" extrusionOk="0">
                    <a:moveTo>
                      <a:pt x="42043" y="1"/>
                    </a:moveTo>
                    <a:cubicBezTo>
                      <a:pt x="40205" y="1"/>
                      <a:pt x="38362" y="52"/>
                      <a:pt x="36528" y="52"/>
                    </a:cubicBezTo>
                    <a:cubicBezTo>
                      <a:pt x="33623" y="52"/>
                      <a:pt x="30683" y="52"/>
                      <a:pt x="27765" y="64"/>
                    </a:cubicBezTo>
                    <a:cubicBezTo>
                      <a:pt x="21872" y="64"/>
                      <a:pt x="15978" y="76"/>
                      <a:pt x="10085" y="100"/>
                    </a:cubicBezTo>
                    <a:cubicBezTo>
                      <a:pt x="6775" y="124"/>
                      <a:pt x="3453" y="148"/>
                      <a:pt x="143" y="159"/>
                    </a:cubicBezTo>
                    <a:cubicBezTo>
                      <a:pt x="0" y="159"/>
                      <a:pt x="0" y="374"/>
                      <a:pt x="143" y="374"/>
                    </a:cubicBezTo>
                    <a:cubicBezTo>
                      <a:pt x="11871" y="421"/>
                      <a:pt x="23610" y="457"/>
                      <a:pt x="35338" y="481"/>
                    </a:cubicBezTo>
                    <a:cubicBezTo>
                      <a:pt x="37375" y="481"/>
                      <a:pt x="39425" y="535"/>
                      <a:pt x="41470" y="535"/>
                    </a:cubicBezTo>
                    <a:cubicBezTo>
                      <a:pt x="42747" y="535"/>
                      <a:pt x="44023" y="514"/>
                      <a:pt x="45291" y="445"/>
                    </a:cubicBezTo>
                    <a:cubicBezTo>
                      <a:pt x="45518" y="433"/>
                      <a:pt x="45518" y="100"/>
                      <a:pt x="45291" y="76"/>
                    </a:cubicBezTo>
                    <a:cubicBezTo>
                      <a:pt x="44212" y="19"/>
                      <a:pt x="43128" y="1"/>
                      <a:pt x="420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</p:grpSp>
        <p:grpSp>
          <p:nvGrpSpPr>
            <p:cNvPr id="410" name="Google Shape;2371;p38">
              <a:extLst>
                <a:ext uri="{FF2B5EF4-FFF2-40B4-BE49-F238E27FC236}">
                  <a16:creationId xmlns:a16="http://schemas.microsoft.com/office/drawing/2014/main" id="{298424F1-A19C-1599-7E56-F38A4F2D7817}"/>
                </a:ext>
              </a:extLst>
            </p:cNvPr>
            <p:cNvGrpSpPr/>
            <p:nvPr/>
          </p:nvGrpSpPr>
          <p:grpSpPr>
            <a:xfrm>
              <a:off x="908410" y="2317346"/>
              <a:ext cx="1393216" cy="893594"/>
              <a:chOff x="430224" y="1178839"/>
              <a:chExt cx="1308553" cy="893594"/>
            </a:xfrm>
          </p:grpSpPr>
          <p:sp>
            <p:nvSpPr>
              <p:cNvPr id="411" name="Google Shape;2372;p38">
                <a:extLst>
                  <a:ext uri="{FF2B5EF4-FFF2-40B4-BE49-F238E27FC236}">
                    <a16:creationId xmlns:a16="http://schemas.microsoft.com/office/drawing/2014/main" id="{FBC0969D-6372-9A77-DB35-9D2C6B0860EB}"/>
                  </a:ext>
                </a:extLst>
              </p:cNvPr>
              <p:cNvSpPr txBox="1"/>
              <p:nvPr/>
            </p:nvSpPr>
            <p:spPr>
              <a:xfrm>
                <a:off x="442777" y="1296675"/>
                <a:ext cx="1296000" cy="2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43800" rIns="0" bIns="24380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</a:pPr>
                <a:endParaRPr sz="11733" b="1" dirty="0">
                  <a:solidFill>
                    <a:schemeClr val="accent3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412" name="Google Shape;2373;p38">
                <a:extLst>
                  <a:ext uri="{FF2B5EF4-FFF2-40B4-BE49-F238E27FC236}">
                    <a16:creationId xmlns:a16="http://schemas.microsoft.com/office/drawing/2014/main" id="{7E63720B-EAD0-3EF6-D72D-A86853AA9882}"/>
                  </a:ext>
                </a:extLst>
              </p:cNvPr>
              <p:cNvSpPr txBox="1"/>
              <p:nvPr/>
            </p:nvSpPr>
            <p:spPr>
              <a:xfrm>
                <a:off x="430224" y="1178839"/>
                <a:ext cx="1296000" cy="8935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43800" rIns="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lang="en-US" sz="3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>
                  <a:spcBef>
                    <a:spcPts val="0"/>
                  </a:spcBef>
                </a:pPr>
                <a:endParaRPr lang="en-US" sz="3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Solution when d(lasso function) = 0:</a:t>
                </a:r>
              </a:p>
              <a:p>
                <a:pPr>
                  <a:spcBef>
                    <a:spcPts val="0"/>
                  </a:spcBef>
                </a:pPr>
                <a:endParaRPr lang="en-US" sz="2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1. 	                     when</a:t>
                </a:r>
              </a:p>
              <a:p>
                <a:pPr>
                  <a:spcBef>
                    <a:spcPts val="0"/>
                  </a:spcBef>
                </a:pPr>
                <a:endParaRPr lang="en-US" sz="20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sz="20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2.	                     when</a:t>
                </a:r>
              </a:p>
              <a:p>
                <a:pPr>
                  <a:spcBef>
                    <a:spcPts val="0"/>
                  </a:spcBef>
                </a:pPr>
                <a:endParaRPr lang="en-US" sz="3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pic>
        <p:nvPicPr>
          <p:cNvPr id="426" name="Picture 425">
            <a:extLst>
              <a:ext uri="{FF2B5EF4-FFF2-40B4-BE49-F238E27FC236}">
                <a16:creationId xmlns:a16="http://schemas.microsoft.com/office/drawing/2014/main" id="{895E057E-9563-215E-C2FB-08329321D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70" y="8528405"/>
            <a:ext cx="6513060" cy="5187595"/>
          </a:xfrm>
          <a:prstGeom prst="rect">
            <a:avLst/>
          </a:prstGeom>
        </p:spPr>
      </p:pic>
      <p:grpSp>
        <p:nvGrpSpPr>
          <p:cNvPr id="427" name="Google Shape;2353;p38">
            <a:extLst>
              <a:ext uri="{FF2B5EF4-FFF2-40B4-BE49-F238E27FC236}">
                <a16:creationId xmlns:a16="http://schemas.microsoft.com/office/drawing/2014/main" id="{ABDBD070-2EAB-9684-6E74-E853718C1FBF}"/>
              </a:ext>
            </a:extLst>
          </p:cNvPr>
          <p:cNvGrpSpPr/>
          <p:nvPr/>
        </p:nvGrpSpPr>
        <p:grpSpPr>
          <a:xfrm rot="14952057">
            <a:off x="11508210" y="3802311"/>
            <a:ext cx="791400" cy="388939"/>
            <a:chOff x="2759375" y="2507427"/>
            <a:chExt cx="1165650" cy="521099"/>
          </a:xfrm>
        </p:grpSpPr>
        <p:sp>
          <p:nvSpPr>
            <p:cNvPr id="428" name="Google Shape;2354;p38">
              <a:extLst>
                <a:ext uri="{FF2B5EF4-FFF2-40B4-BE49-F238E27FC236}">
                  <a16:creationId xmlns:a16="http://schemas.microsoft.com/office/drawing/2014/main" id="{33CB6A22-9C1B-3C53-F58B-BFB56CDEE185}"/>
                </a:ext>
              </a:extLst>
            </p:cNvPr>
            <p:cNvSpPr/>
            <p:nvPr/>
          </p:nvSpPr>
          <p:spPr>
            <a:xfrm>
              <a:off x="2801911" y="2594659"/>
              <a:ext cx="1123114" cy="433867"/>
            </a:xfrm>
            <a:custGeom>
              <a:avLst/>
              <a:gdLst/>
              <a:ahLst/>
              <a:cxnLst/>
              <a:rect l="l" t="t" r="r" b="b"/>
              <a:pathLst>
                <a:path w="34325" h="13260" extrusionOk="0">
                  <a:moveTo>
                    <a:pt x="149" y="1"/>
                  </a:moveTo>
                  <a:cubicBezTo>
                    <a:pt x="36" y="1"/>
                    <a:pt x="1" y="180"/>
                    <a:pt x="129" y="234"/>
                  </a:cubicBezTo>
                  <a:lnTo>
                    <a:pt x="117" y="234"/>
                  </a:lnTo>
                  <a:cubicBezTo>
                    <a:pt x="5737" y="2484"/>
                    <a:pt x="11405" y="4615"/>
                    <a:pt x="17048" y="6770"/>
                  </a:cubicBezTo>
                  <a:cubicBezTo>
                    <a:pt x="22704" y="8937"/>
                    <a:pt x="28335" y="11128"/>
                    <a:pt x="34003" y="13247"/>
                  </a:cubicBezTo>
                  <a:cubicBezTo>
                    <a:pt x="34026" y="13255"/>
                    <a:pt x="34048" y="13259"/>
                    <a:pt x="34068" y="13259"/>
                  </a:cubicBezTo>
                  <a:cubicBezTo>
                    <a:pt x="34258" y="13259"/>
                    <a:pt x="34325" y="12940"/>
                    <a:pt x="34110" y="12854"/>
                  </a:cubicBezTo>
                  <a:cubicBezTo>
                    <a:pt x="28478" y="10652"/>
                    <a:pt x="22811" y="8533"/>
                    <a:pt x="17155" y="6389"/>
                  </a:cubicBezTo>
                  <a:cubicBezTo>
                    <a:pt x="11500" y="4246"/>
                    <a:pt x="5868" y="2067"/>
                    <a:pt x="189" y="8"/>
                  </a:cubicBezTo>
                  <a:cubicBezTo>
                    <a:pt x="175" y="3"/>
                    <a:pt x="162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 dirty="0"/>
            </a:p>
          </p:txBody>
        </p:sp>
        <p:sp>
          <p:nvSpPr>
            <p:cNvPr id="429" name="Google Shape;2355;p38">
              <a:extLst>
                <a:ext uri="{FF2B5EF4-FFF2-40B4-BE49-F238E27FC236}">
                  <a16:creationId xmlns:a16="http://schemas.microsoft.com/office/drawing/2014/main" id="{E4842455-0F44-F8EF-88B8-6F43E8102E0D}"/>
                </a:ext>
              </a:extLst>
            </p:cNvPr>
            <p:cNvSpPr/>
            <p:nvPr/>
          </p:nvSpPr>
          <p:spPr>
            <a:xfrm>
              <a:off x="2759375" y="2507427"/>
              <a:ext cx="149956" cy="191739"/>
            </a:xfrm>
            <a:custGeom>
              <a:avLst/>
              <a:gdLst/>
              <a:ahLst/>
              <a:cxnLst/>
              <a:rect l="l" t="t" r="r" b="b"/>
              <a:pathLst>
                <a:path w="4583" h="5860" extrusionOk="0">
                  <a:moveTo>
                    <a:pt x="4404" y="1"/>
                  </a:moveTo>
                  <a:cubicBezTo>
                    <a:pt x="4377" y="1"/>
                    <a:pt x="4348" y="10"/>
                    <a:pt x="4323" y="30"/>
                  </a:cubicBezTo>
                  <a:cubicBezTo>
                    <a:pt x="3037" y="1126"/>
                    <a:pt x="1834" y="2233"/>
                    <a:pt x="108" y="2495"/>
                  </a:cubicBezTo>
                  <a:cubicBezTo>
                    <a:pt x="24" y="2519"/>
                    <a:pt x="1" y="2614"/>
                    <a:pt x="48" y="2674"/>
                  </a:cubicBezTo>
                  <a:cubicBezTo>
                    <a:pt x="1132" y="3567"/>
                    <a:pt x="2060" y="4638"/>
                    <a:pt x="2810" y="5817"/>
                  </a:cubicBezTo>
                  <a:cubicBezTo>
                    <a:pt x="2826" y="5847"/>
                    <a:pt x="2849" y="5859"/>
                    <a:pt x="2873" y="5859"/>
                  </a:cubicBezTo>
                  <a:cubicBezTo>
                    <a:pt x="2923" y="5859"/>
                    <a:pt x="2974" y="5802"/>
                    <a:pt x="2941" y="5745"/>
                  </a:cubicBezTo>
                  <a:cubicBezTo>
                    <a:pt x="2230" y="4571"/>
                    <a:pt x="1326" y="3622"/>
                    <a:pt x="361" y="2674"/>
                  </a:cubicBezTo>
                  <a:lnTo>
                    <a:pt x="361" y="2674"/>
                  </a:lnTo>
                  <a:cubicBezTo>
                    <a:pt x="1992" y="2386"/>
                    <a:pt x="3306" y="1335"/>
                    <a:pt x="4489" y="209"/>
                  </a:cubicBezTo>
                  <a:cubicBezTo>
                    <a:pt x="4582" y="116"/>
                    <a:pt x="4501" y="1"/>
                    <a:pt x="44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/>
            </a:p>
          </p:txBody>
        </p:sp>
      </p:grpSp>
      <p:grpSp>
        <p:nvGrpSpPr>
          <p:cNvPr id="430" name="Google Shape;2353;p38">
            <a:extLst>
              <a:ext uri="{FF2B5EF4-FFF2-40B4-BE49-F238E27FC236}">
                <a16:creationId xmlns:a16="http://schemas.microsoft.com/office/drawing/2014/main" id="{007790C8-B91B-3B63-E9B7-9215DFE948C6}"/>
              </a:ext>
            </a:extLst>
          </p:cNvPr>
          <p:cNvGrpSpPr/>
          <p:nvPr/>
        </p:nvGrpSpPr>
        <p:grpSpPr>
          <a:xfrm rot="14952057">
            <a:off x="19802367" y="3711396"/>
            <a:ext cx="791400" cy="388939"/>
            <a:chOff x="2759375" y="2507427"/>
            <a:chExt cx="1165650" cy="521099"/>
          </a:xfrm>
        </p:grpSpPr>
        <p:sp>
          <p:nvSpPr>
            <p:cNvPr id="431" name="Google Shape;2354;p38">
              <a:extLst>
                <a:ext uri="{FF2B5EF4-FFF2-40B4-BE49-F238E27FC236}">
                  <a16:creationId xmlns:a16="http://schemas.microsoft.com/office/drawing/2014/main" id="{C6FC05C7-EADE-FE07-CAFA-8F1E2BF01413}"/>
                </a:ext>
              </a:extLst>
            </p:cNvPr>
            <p:cNvSpPr/>
            <p:nvPr/>
          </p:nvSpPr>
          <p:spPr>
            <a:xfrm>
              <a:off x="2801911" y="2594659"/>
              <a:ext cx="1123114" cy="433867"/>
            </a:xfrm>
            <a:custGeom>
              <a:avLst/>
              <a:gdLst/>
              <a:ahLst/>
              <a:cxnLst/>
              <a:rect l="l" t="t" r="r" b="b"/>
              <a:pathLst>
                <a:path w="34325" h="13260" extrusionOk="0">
                  <a:moveTo>
                    <a:pt x="149" y="1"/>
                  </a:moveTo>
                  <a:cubicBezTo>
                    <a:pt x="36" y="1"/>
                    <a:pt x="1" y="180"/>
                    <a:pt x="129" y="234"/>
                  </a:cubicBezTo>
                  <a:lnTo>
                    <a:pt x="117" y="234"/>
                  </a:lnTo>
                  <a:cubicBezTo>
                    <a:pt x="5737" y="2484"/>
                    <a:pt x="11405" y="4615"/>
                    <a:pt x="17048" y="6770"/>
                  </a:cubicBezTo>
                  <a:cubicBezTo>
                    <a:pt x="22704" y="8937"/>
                    <a:pt x="28335" y="11128"/>
                    <a:pt x="34003" y="13247"/>
                  </a:cubicBezTo>
                  <a:cubicBezTo>
                    <a:pt x="34026" y="13255"/>
                    <a:pt x="34048" y="13259"/>
                    <a:pt x="34068" y="13259"/>
                  </a:cubicBezTo>
                  <a:cubicBezTo>
                    <a:pt x="34258" y="13259"/>
                    <a:pt x="34325" y="12940"/>
                    <a:pt x="34110" y="12854"/>
                  </a:cubicBezTo>
                  <a:cubicBezTo>
                    <a:pt x="28478" y="10652"/>
                    <a:pt x="22811" y="8533"/>
                    <a:pt x="17155" y="6389"/>
                  </a:cubicBezTo>
                  <a:cubicBezTo>
                    <a:pt x="11500" y="4246"/>
                    <a:pt x="5868" y="2067"/>
                    <a:pt x="189" y="8"/>
                  </a:cubicBezTo>
                  <a:cubicBezTo>
                    <a:pt x="175" y="3"/>
                    <a:pt x="162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 dirty="0"/>
            </a:p>
          </p:txBody>
        </p:sp>
        <p:sp>
          <p:nvSpPr>
            <p:cNvPr id="432" name="Google Shape;2355;p38">
              <a:extLst>
                <a:ext uri="{FF2B5EF4-FFF2-40B4-BE49-F238E27FC236}">
                  <a16:creationId xmlns:a16="http://schemas.microsoft.com/office/drawing/2014/main" id="{54C597D5-D99D-8ADA-D274-92F7FFD84FCF}"/>
                </a:ext>
              </a:extLst>
            </p:cNvPr>
            <p:cNvSpPr/>
            <p:nvPr/>
          </p:nvSpPr>
          <p:spPr>
            <a:xfrm>
              <a:off x="2759375" y="2507427"/>
              <a:ext cx="149956" cy="191739"/>
            </a:xfrm>
            <a:custGeom>
              <a:avLst/>
              <a:gdLst/>
              <a:ahLst/>
              <a:cxnLst/>
              <a:rect l="l" t="t" r="r" b="b"/>
              <a:pathLst>
                <a:path w="4583" h="5860" extrusionOk="0">
                  <a:moveTo>
                    <a:pt x="4404" y="1"/>
                  </a:moveTo>
                  <a:cubicBezTo>
                    <a:pt x="4377" y="1"/>
                    <a:pt x="4348" y="10"/>
                    <a:pt x="4323" y="30"/>
                  </a:cubicBezTo>
                  <a:cubicBezTo>
                    <a:pt x="3037" y="1126"/>
                    <a:pt x="1834" y="2233"/>
                    <a:pt x="108" y="2495"/>
                  </a:cubicBezTo>
                  <a:cubicBezTo>
                    <a:pt x="24" y="2519"/>
                    <a:pt x="1" y="2614"/>
                    <a:pt x="48" y="2674"/>
                  </a:cubicBezTo>
                  <a:cubicBezTo>
                    <a:pt x="1132" y="3567"/>
                    <a:pt x="2060" y="4638"/>
                    <a:pt x="2810" y="5817"/>
                  </a:cubicBezTo>
                  <a:cubicBezTo>
                    <a:pt x="2826" y="5847"/>
                    <a:pt x="2849" y="5859"/>
                    <a:pt x="2873" y="5859"/>
                  </a:cubicBezTo>
                  <a:cubicBezTo>
                    <a:pt x="2923" y="5859"/>
                    <a:pt x="2974" y="5802"/>
                    <a:pt x="2941" y="5745"/>
                  </a:cubicBezTo>
                  <a:cubicBezTo>
                    <a:pt x="2230" y="4571"/>
                    <a:pt x="1326" y="3622"/>
                    <a:pt x="361" y="2674"/>
                  </a:cubicBezTo>
                  <a:lnTo>
                    <a:pt x="361" y="2674"/>
                  </a:lnTo>
                  <a:cubicBezTo>
                    <a:pt x="1992" y="2386"/>
                    <a:pt x="3306" y="1335"/>
                    <a:pt x="4489" y="209"/>
                  </a:cubicBezTo>
                  <a:cubicBezTo>
                    <a:pt x="4582" y="116"/>
                    <a:pt x="4501" y="1"/>
                    <a:pt x="44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/>
            </a:p>
          </p:txBody>
        </p:sp>
      </p:grpSp>
      <p:grpSp>
        <p:nvGrpSpPr>
          <p:cNvPr id="433" name="Google Shape;2353;p38">
            <a:extLst>
              <a:ext uri="{FF2B5EF4-FFF2-40B4-BE49-F238E27FC236}">
                <a16:creationId xmlns:a16="http://schemas.microsoft.com/office/drawing/2014/main" id="{81596A45-B4A3-DD41-A5D9-18591ECD9689}"/>
              </a:ext>
            </a:extLst>
          </p:cNvPr>
          <p:cNvGrpSpPr/>
          <p:nvPr/>
        </p:nvGrpSpPr>
        <p:grpSpPr>
          <a:xfrm rot="14952057">
            <a:off x="3197478" y="7789095"/>
            <a:ext cx="791400" cy="388939"/>
            <a:chOff x="2759375" y="2507427"/>
            <a:chExt cx="1165650" cy="521099"/>
          </a:xfrm>
        </p:grpSpPr>
        <p:sp>
          <p:nvSpPr>
            <p:cNvPr id="434" name="Google Shape;2354;p38">
              <a:extLst>
                <a:ext uri="{FF2B5EF4-FFF2-40B4-BE49-F238E27FC236}">
                  <a16:creationId xmlns:a16="http://schemas.microsoft.com/office/drawing/2014/main" id="{CCCA90A7-F1DF-730B-62F5-4C85D7A64B51}"/>
                </a:ext>
              </a:extLst>
            </p:cNvPr>
            <p:cNvSpPr/>
            <p:nvPr/>
          </p:nvSpPr>
          <p:spPr>
            <a:xfrm>
              <a:off x="2801911" y="2594659"/>
              <a:ext cx="1123114" cy="433867"/>
            </a:xfrm>
            <a:custGeom>
              <a:avLst/>
              <a:gdLst/>
              <a:ahLst/>
              <a:cxnLst/>
              <a:rect l="l" t="t" r="r" b="b"/>
              <a:pathLst>
                <a:path w="34325" h="13260" extrusionOk="0">
                  <a:moveTo>
                    <a:pt x="149" y="1"/>
                  </a:moveTo>
                  <a:cubicBezTo>
                    <a:pt x="36" y="1"/>
                    <a:pt x="1" y="180"/>
                    <a:pt x="129" y="234"/>
                  </a:cubicBezTo>
                  <a:lnTo>
                    <a:pt x="117" y="234"/>
                  </a:lnTo>
                  <a:cubicBezTo>
                    <a:pt x="5737" y="2484"/>
                    <a:pt x="11405" y="4615"/>
                    <a:pt x="17048" y="6770"/>
                  </a:cubicBezTo>
                  <a:cubicBezTo>
                    <a:pt x="22704" y="8937"/>
                    <a:pt x="28335" y="11128"/>
                    <a:pt x="34003" y="13247"/>
                  </a:cubicBezTo>
                  <a:cubicBezTo>
                    <a:pt x="34026" y="13255"/>
                    <a:pt x="34048" y="13259"/>
                    <a:pt x="34068" y="13259"/>
                  </a:cubicBezTo>
                  <a:cubicBezTo>
                    <a:pt x="34258" y="13259"/>
                    <a:pt x="34325" y="12940"/>
                    <a:pt x="34110" y="12854"/>
                  </a:cubicBezTo>
                  <a:cubicBezTo>
                    <a:pt x="28478" y="10652"/>
                    <a:pt x="22811" y="8533"/>
                    <a:pt x="17155" y="6389"/>
                  </a:cubicBezTo>
                  <a:cubicBezTo>
                    <a:pt x="11500" y="4246"/>
                    <a:pt x="5868" y="2067"/>
                    <a:pt x="189" y="8"/>
                  </a:cubicBezTo>
                  <a:cubicBezTo>
                    <a:pt x="175" y="3"/>
                    <a:pt x="162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 dirty="0"/>
            </a:p>
          </p:txBody>
        </p:sp>
        <p:sp>
          <p:nvSpPr>
            <p:cNvPr id="435" name="Google Shape;2355;p38">
              <a:extLst>
                <a:ext uri="{FF2B5EF4-FFF2-40B4-BE49-F238E27FC236}">
                  <a16:creationId xmlns:a16="http://schemas.microsoft.com/office/drawing/2014/main" id="{70736BC3-B404-88FB-CD72-CEF09DED90BA}"/>
                </a:ext>
              </a:extLst>
            </p:cNvPr>
            <p:cNvSpPr/>
            <p:nvPr/>
          </p:nvSpPr>
          <p:spPr>
            <a:xfrm>
              <a:off x="2759375" y="2507427"/>
              <a:ext cx="149956" cy="191739"/>
            </a:xfrm>
            <a:custGeom>
              <a:avLst/>
              <a:gdLst/>
              <a:ahLst/>
              <a:cxnLst/>
              <a:rect l="l" t="t" r="r" b="b"/>
              <a:pathLst>
                <a:path w="4583" h="5860" extrusionOk="0">
                  <a:moveTo>
                    <a:pt x="4404" y="1"/>
                  </a:moveTo>
                  <a:cubicBezTo>
                    <a:pt x="4377" y="1"/>
                    <a:pt x="4348" y="10"/>
                    <a:pt x="4323" y="30"/>
                  </a:cubicBezTo>
                  <a:cubicBezTo>
                    <a:pt x="3037" y="1126"/>
                    <a:pt x="1834" y="2233"/>
                    <a:pt x="108" y="2495"/>
                  </a:cubicBezTo>
                  <a:cubicBezTo>
                    <a:pt x="24" y="2519"/>
                    <a:pt x="1" y="2614"/>
                    <a:pt x="48" y="2674"/>
                  </a:cubicBezTo>
                  <a:cubicBezTo>
                    <a:pt x="1132" y="3567"/>
                    <a:pt x="2060" y="4638"/>
                    <a:pt x="2810" y="5817"/>
                  </a:cubicBezTo>
                  <a:cubicBezTo>
                    <a:pt x="2826" y="5847"/>
                    <a:pt x="2849" y="5859"/>
                    <a:pt x="2873" y="5859"/>
                  </a:cubicBezTo>
                  <a:cubicBezTo>
                    <a:pt x="2923" y="5859"/>
                    <a:pt x="2974" y="5802"/>
                    <a:pt x="2941" y="5745"/>
                  </a:cubicBezTo>
                  <a:cubicBezTo>
                    <a:pt x="2230" y="4571"/>
                    <a:pt x="1326" y="3622"/>
                    <a:pt x="361" y="2674"/>
                  </a:cubicBezTo>
                  <a:lnTo>
                    <a:pt x="361" y="2674"/>
                  </a:lnTo>
                  <a:cubicBezTo>
                    <a:pt x="1992" y="2386"/>
                    <a:pt x="3306" y="1335"/>
                    <a:pt x="4489" y="209"/>
                  </a:cubicBezTo>
                  <a:cubicBezTo>
                    <a:pt x="4582" y="116"/>
                    <a:pt x="4501" y="1"/>
                    <a:pt x="44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/>
            </a:p>
          </p:txBody>
        </p:sp>
      </p:grpSp>
      <p:pic>
        <p:nvPicPr>
          <p:cNvPr id="437" name="Picture 436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54526B62-25A3-4F9C-6AF6-F8B6C99981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375" y="8682646"/>
            <a:ext cx="8462187" cy="1283705"/>
          </a:xfrm>
          <a:prstGeom prst="rect">
            <a:avLst/>
          </a:prstGeom>
        </p:spPr>
      </p:pic>
      <p:grpSp>
        <p:nvGrpSpPr>
          <p:cNvPr id="438" name="Google Shape;2353;p38">
            <a:extLst>
              <a:ext uri="{FF2B5EF4-FFF2-40B4-BE49-F238E27FC236}">
                <a16:creationId xmlns:a16="http://schemas.microsoft.com/office/drawing/2014/main" id="{11DB78D5-0C29-9DB5-EA8C-C61F6129CA1F}"/>
              </a:ext>
            </a:extLst>
          </p:cNvPr>
          <p:cNvGrpSpPr/>
          <p:nvPr/>
        </p:nvGrpSpPr>
        <p:grpSpPr>
          <a:xfrm rot="14952057">
            <a:off x="11430771" y="7742043"/>
            <a:ext cx="791400" cy="388939"/>
            <a:chOff x="2759375" y="2507427"/>
            <a:chExt cx="1165650" cy="521099"/>
          </a:xfrm>
        </p:grpSpPr>
        <p:sp>
          <p:nvSpPr>
            <p:cNvPr id="439" name="Google Shape;2354;p38">
              <a:extLst>
                <a:ext uri="{FF2B5EF4-FFF2-40B4-BE49-F238E27FC236}">
                  <a16:creationId xmlns:a16="http://schemas.microsoft.com/office/drawing/2014/main" id="{D4A91F18-6E9A-A795-9012-248DD090B125}"/>
                </a:ext>
              </a:extLst>
            </p:cNvPr>
            <p:cNvSpPr/>
            <p:nvPr/>
          </p:nvSpPr>
          <p:spPr>
            <a:xfrm>
              <a:off x="2801911" y="2594659"/>
              <a:ext cx="1123114" cy="433867"/>
            </a:xfrm>
            <a:custGeom>
              <a:avLst/>
              <a:gdLst/>
              <a:ahLst/>
              <a:cxnLst/>
              <a:rect l="l" t="t" r="r" b="b"/>
              <a:pathLst>
                <a:path w="34325" h="13260" extrusionOk="0">
                  <a:moveTo>
                    <a:pt x="149" y="1"/>
                  </a:moveTo>
                  <a:cubicBezTo>
                    <a:pt x="36" y="1"/>
                    <a:pt x="1" y="180"/>
                    <a:pt x="129" y="234"/>
                  </a:cubicBezTo>
                  <a:lnTo>
                    <a:pt x="117" y="234"/>
                  </a:lnTo>
                  <a:cubicBezTo>
                    <a:pt x="5737" y="2484"/>
                    <a:pt x="11405" y="4615"/>
                    <a:pt x="17048" y="6770"/>
                  </a:cubicBezTo>
                  <a:cubicBezTo>
                    <a:pt x="22704" y="8937"/>
                    <a:pt x="28335" y="11128"/>
                    <a:pt x="34003" y="13247"/>
                  </a:cubicBezTo>
                  <a:cubicBezTo>
                    <a:pt x="34026" y="13255"/>
                    <a:pt x="34048" y="13259"/>
                    <a:pt x="34068" y="13259"/>
                  </a:cubicBezTo>
                  <a:cubicBezTo>
                    <a:pt x="34258" y="13259"/>
                    <a:pt x="34325" y="12940"/>
                    <a:pt x="34110" y="12854"/>
                  </a:cubicBezTo>
                  <a:cubicBezTo>
                    <a:pt x="28478" y="10652"/>
                    <a:pt x="22811" y="8533"/>
                    <a:pt x="17155" y="6389"/>
                  </a:cubicBezTo>
                  <a:cubicBezTo>
                    <a:pt x="11500" y="4246"/>
                    <a:pt x="5868" y="2067"/>
                    <a:pt x="189" y="8"/>
                  </a:cubicBezTo>
                  <a:cubicBezTo>
                    <a:pt x="175" y="3"/>
                    <a:pt x="162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 dirty="0"/>
            </a:p>
          </p:txBody>
        </p:sp>
        <p:sp>
          <p:nvSpPr>
            <p:cNvPr id="440" name="Google Shape;2355;p38">
              <a:extLst>
                <a:ext uri="{FF2B5EF4-FFF2-40B4-BE49-F238E27FC236}">
                  <a16:creationId xmlns:a16="http://schemas.microsoft.com/office/drawing/2014/main" id="{E9AC67C4-33B7-CF65-1C32-4AC74CDA2D03}"/>
                </a:ext>
              </a:extLst>
            </p:cNvPr>
            <p:cNvSpPr/>
            <p:nvPr/>
          </p:nvSpPr>
          <p:spPr>
            <a:xfrm>
              <a:off x="2759375" y="2507427"/>
              <a:ext cx="149956" cy="191739"/>
            </a:xfrm>
            <a:custGeom>
              <a:avLst/>
              <a:gdLst/>
              <a:ahLst/>
              <a:cxnLst/>
              <a:rect l="l" t="t" r="r" b="b"/>
              <a:pathLst>
                <a:path w="4583" h="5860" extrusionOk="0">
                  <a:moveTo>
                    <a:pt x="4404" y="1"/>
                  </a:moveTo>
                  <a:cubicBezTo>
                    <a:pt x="4377" y="1"/>
                    <a:pt x="4348" y="10"/>
                    <a:pt x="4323" y="30"/>
                  </a:cubicBezTo>
                  <a:cubicBezTo>
                    <a:pt x="3037" y="1126"/>
                    <a:pt x="1834" y="2233"/>
                    <a:pt x="108" y="2495"/>
                  </a:cubicBezTo>
                  <a:cubicBezTo>
                    <a:pt x="24" y="2519"/>
                    <a:pt x="1" y="2614"/>
                    <a:pt x="48" y="2674"/>
                  </a:cubicBezTo>
                  <a:cubicBezTo>
                    <a:pt x="1132" y="3567"/>
                    <a:pt x="2060" y="4638"/>
                    <a:pt x="2810" y="5817"/>
                  </a:cubicBezTo>
                  <a:cubicBezTo>
                    <a:pt x="2826" y="5847"/>
                    <a:pt x="2849" y="5859"/>
                    <a:pt x="2873" y="5859"/>
                  </a:cubicBezTo>
                  <a:cubicBezTo>
                    <a:pt x="2923" y="5859"/>
                    <a:pt x="2974" y="5802"/>
                    <a:pt x="2941" y="5745"/>
                  </a:cubicBezTo>
                  <a:cubicBezTo>
                    <a:pt x="2230" y="4571"/>
                    <a:pt x="1326" y="3622"/>
                    <a:pt x="361" y="2674"/>
                  </a:cubicBezTo>
                  <a:lnTo>
                    <a:pt x="361" y="2674"/>
                  </a:lnTo>
                  <a:cubicBezTo>
                    <a:pt x="1992" y="2386"/>
                    <a:pt x="3306" y="1335"/>
                    <a:pt x="4489" y="209"/>
                  </a:cubicBezTo>
                  <a:cubicBezTo>
                    <a:pt x="4582" y="116"/>
                    <a:pt x="4501" y="1"/>
                    <a:pt x="44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/>
            </a:p>
          </p:txBody>
        </p:sp>
      </p:grpSp>
      <p:pic>
        <p:nvPicPr>
          <p:cNvPr id="441" name="Picture 6">
            <a:hlinkClick r:id="rId4"/>
            <a:extLst>
              <a:ext uri="{FF2B5EF4-FFF2-40B4-BE49-F238E27FC236}">
                <a16:creationId xmlns:a16="http://schemas.microsoft.com/office/drawing/2014/main" id="{F5BC8AF5-9043-FE45-7F08-CF7786515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0626" y="4936575"/>
            <a:ext cx="3737167" cy="366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42" name="Google Shape;2353;p38">
            <a:extLst>
              <a:ext uri="{FF2B5EF4-FFF2-40B4-BE49-F238E27FC236}">
                <a16:creationId xmlns:a16="http://schemas.microsoft.com/office/drawing/2014/main" id="{49F001CB-954B-48D8-424B-945C2481ECD7}"/>
              </a:ext>
            </a:extLst>
          </p:cNvPr>
          <p:cNvGrpSpPr/>
          <p:nvPr/>
        </p:nvGrpSpPr>
        <p:grpSpPr>
          <a:xfrm rot="20167874">
            <a:off x="15898134" y="12881287"/>
            <a:ext cx="791400" cy="388939"/>
            <a:chOff x="2759375" y="2507427"/>
            <a:chExt cx="1165650" cy="521099"/>
          </a:xfrm>
        </p:grpSpPr>
        <p:sp>
          <p:nvSpPr>
            <p:cNvPr id="443" name="Google Shape;2354;p38">
              <a:extLst>
                <a:ext uri="{FF2B5EF4-FFF2-40B4-BE49-F238E27FC236}">
                  <a16:creationId xmlns:a16="http://schemas.microsoft.com/office/drawing/2014/main" id="{1A8E973C-FB27-EB07-239A-553DC16248CE}"/>
                </a:ext>
              </a:extLst>
            </p:cNvPr>
            <p:cNvSpPr/>
            <p:nvPr/>
          </p:nvSpPr>
          <p:spPr>
            <a:xfrm>
              <a:off x="2801911" y="2594659"/>
              <a:ext cx="1123114" cy="433867"/>
            </a:xfrm>
            <a:custGeom>
              <a:avLst/>
              <a:gdLst/>
              <a:ahLst/>
              <a:cxnLst/>
              <a:rect l="l" t="t" r="r" b="b"/>
              <a:pathLst>
                <a:path w="34325" h="13260" extrusionOk="0">
                  <a:moveTo>
                    <a:pt x="149" y="1"/>
                  </a:moveTo>
                  <a:cubicBezTo>
                    <a:pt x="36" y="1"/>
                    <a:pt x="1" y="180"/>
                    <a:pt x="129" y="234"/>
                  </a:cubicBezTo>
                  <a:lnTo>
                    <a:pt x="117" y="234"/>
                  </a:lnTo>
                  <a:cubicBezTo>
                    <a:pt x="5737" y="2484"/>
                    <a:pt x="11405" y="4615"/>
                    <a:pt x="17048" y="6770"/>
                  </a:cubicBezTo>
                  <a:cubicBezTo>
                    <a:pt x="22704" y="8937"/>
                    <a:pt x="28335" y="11128"/>
                    <a:pt x="34003" y="13247"/>
                  </a:cubicBezTo>
                  <a:cubicBezTo>
                    <a:pt x="34026" y="13255"/>
                    <a:pt x="34048" y="13259"/>
                    <a:pt x="34068" y="13259"/>
                  </a:cubicBezTo>
                  <a:cubicBezTo>
                    <a:pt x="34258" y="13259"/>
                    <a:pt x="34325" y="12940"/>
                    <a:pt x="34110" y="12854"/>
                  </a:cubicBezTo>
                  <a:cubicBezTo>
                    <a:pt x="28478" y="10652"/>
                    <a:pt x="22811" y="8533"/>
                    <a:pt x="17155" y="6389"/>
                  </a:cubicBezTo>
                  <a:cubicBezTo>
                    <a:pt x="11500" y="4246"/>
                    <a:pt x="5868" y="2067"/>
                    <a:pt x="189" y="8"/>
                  </a:cubicBezTo>
                  <a:cubicBezTo>
                    <a:pt x="175" y="3"/>
                    <a:pt x="162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 dirty="0"/>
            </a:p>
          </p:txBody>
        </p:sp>
        <p:sp>
          <p:nvSpPr>
            <p:cNvPr id="444" name="Google Shape;2355;p38">
              <a:extLst>
                <a:ext uri="{FF2B5EF4-FFF2-40B4-BE49-F238E27FC236}">
                  <a16:creationId xmlns:a16="http://schemas.microsoft.com/office/drawing/2014/main" id="{77881369-FB47-2CC3-6782-073B684C7CAD}"/>
                </a:ext>
              </a:extLst>
            </p:cNvPr>
            <p:cNvSpPr/>
            <p:nvPr/>
          </p:nvSpPr>
          <p:spPr>
            <a:xfrm>
              <a:off x="2759375" y="2507427"/>
              <a:ext cx="149956" cy="191739"/>
            </a:xfrm>
            <a:custGeom>
              <a:avLst/>
              <a:gdLst/>
              <a:ahLst/>
              <a:cxnLst/>
              <a:rect l="l" t="t" r="r" b="b"/>
              <a:pathLst>
                <a:path w="4583" h="5860" extrusionOk="0">
                  <a:moveTo>
                    <a:pt x="4404" y="1"/>
                  </a:moveTo>
                  <a:cubicBezTo>
                    <a:pt x="4377" y="1"/>
                    <a:pt x="4348" y="10"/>
                    <a:pt x="4323" y="30"/>
                  </a:cubicBezTo>
                  <a:cubicBezTo>
                    <a:pt x="3037" y="1126"/>
                    <a:pt x="1834" y="2233"/>
                    <a:pt x="108" y="2495"/>
                  </a:cubicBezTo>
                  <a:cubicBezTo>
                    <a:pt x="24" y="2519"/>
                    <a:pt x="1" y="2614"/>
                    <a:pt x="48" y="2674"/>
                  </a:cubicBezTo>
                  <a:cubicBezTo>
                    <a:pt x="1132" y="3567"/>
                    <a:pt x="2060" y="4638"/>
                    <a:pt x="2810" y="5817"/>
                  </a:cubicBezTo>
                  <a:cubicBezTo>
                    <a:pt x="2826" y="5847"/>
                    <a:pt x="2849" y="5859"/>
                    <a:pt x="2873" y="5859"/>
                  </a:cubicBezTo>
                  <a:cubicBezTo>
                    <a:pt x="2923" y="5859"/>
                    <a:pt x="2974" y="5802"/>
                    <a:pt x="2941" y="5745"/>
                  </a:cubicBezTo>
                  <a:cubicBezTo>
                    <a:pt x="2230" y="4571"/>
                    <a:pt x="1326" y="3622"/>
                    <a:pt x="361" y="2674"/>
                  </a:cubicBezTo>
                  <a:lnTo>
                    <a:pt x="361" y="2674"/>
                  </a:lnTo>
                  <a:cubicBezTo>
                    <a:pt x="1992" y="2386"/>
                    <a:pt x="3306" y="1335"/>
                    <a:pt x="4489" y="209"/>
                  </a:cubicBezTo>
                  <a:cubicBezTo>
                    <a:pt x="4582" y="116"/>
                    <a:pt x="4501" y="1"/>
                    <a:pt x="44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/>
            </a:p>
          </p:txBody>
        </p:sp>
      </p:grpSp>
      <p:grpSp>
        <p:nvGrpSpPr>
          <p:cNvPr id="6144" name="Google Shape;2365;p38">
            <a:extLst>
              <a:ext uri="{FF2B5EF4-FFF2-40B4-BE49-F238E27FC236}">
                <a16:creationId xmlns:a16="http://schemas.microsoft.com/office/drawing/2014/main" id="{7FFBB5D8-8703-8F37-CE83-339826E9D73C}"/>
              </a:ext>
            </a:extLst>
          </p:cNvPr>
          <p:cNvGrpSpPr/>
          <p:nvPr/>
        </p:nvGrpSpPr>
        <p:grpSpPr>
          <a:xfrm>
            <a:off x="16256229" y="4617320"/>
            <a:ext cx="7842689" cy="2779629"/>
            <a:chOff x="872381" y="2245700"/>
            <a:chExt cx="1508065" cy="1042361"/>
          </a:xfrm>
        </p:grpSpPr>
        <p:grpSp>
          <p:nvGrpSpPr>
            <p:cNvPr id="6145" name="Google Shape;2366;p38">
              <a:extLst>
                <a:ext uri="{FF2B5EF4-FFF2-40B4-BE49-F238E27FC236}">
                  <a16:creationId xmlns:a16="http://schemas.microsoft.com/office/drawing/2014/main" id="{464498F5-FDA9-96CE-03AB-74CF8295B599}"/>
                </a:ext>
              </a:extLst>
            </p:cNvPr>
            <p:cNvGrpSpPr/>
            <p:nvPr/>
          </p:nvGrpSpPr>
          <p:grpSpPr>
            <a:xfrm>
              <a:off x="872381" y="2245700"/>
              <a:ext cx="1508065" cy="1042361"/>
              <a:chOff x="1067456" y="2245700"/>
              <a:chExt cx="1508065" cy="1042361"/>
            </a:xfrm>
          </p:grpSpPr>
          <p:sp>
            <p:nvSpPr>
              <p:cNvPr id="6153" name="Google Shape;2367;p38">
                <a:extLst>
                  <a:ext uri="{FF2B5EF4-FFF2-40B4-BE49-F238E27FC236}">
                    <a16:creationId xmlns:a16="http://schemas.microsoft.com/office/drawing/2014/main" id="{543B18FD-7D09-E695-50A8-EBC5C0F35E7E}"/>
                  </a:ext>
                </a:extLst>
              </p:cNvPr>
              <p:cNvSpPr/>
              <p:nvPr/>
            </p:nvSpPr>
            <p:spPr>
              <a:xfrm>
                <a:off x="1067456" y="2367975"/>
                <a:ext cx="14462" cy="917174"/>
              </a:xfrm>
              <a:custGeom>
                <a:avLst/>
                <a:gdLst/>
                <a:ahLst/>
                <a:cxnLst/>
                <a:rect l="l" t="t" r="r" b="b"/>
                <a:pathLst>
                  <a:path w="442" h="28031" extrusionOk="0">
                    <a:moveTo>
                      <a:pt x="215" y="0"/>
                    </a:moveTo>
                    <a:cubicBezTo>
                      <a:pt x="167" y="0"/>
                      <a:pt x="120" y="30"/>
                      <a:pt x="120" y="90"/>
                    </a:cubicBezTo>
                    <a:cubicBezTo>
                      <a:pt x="120" y="4733"/>
                      <a:pt x="120" y="9365"/>
                      <a:pt x="120" y="14008"/>
                    </a:cubicBezTo>
                    <a:cubicBezTo>
                      <a:pt x="120" y="18639"/>
                      <a:pt x="1" y="23283"/>
                      <a:pt x="84" y="27914"/>
                    </a:cubicBezTo>
                    <a:cubicBezTo>
                      <a:pt x="96" y="27992"/>
                      <a:pt x="159" y="28031"/>
                      <a:pt x="220" y="28031"/>
                    </a:cubicBezTo>
                    <a:cubicBezTo>
                      <a:pt x="281" y="28031"/>
                      <a:pt x="340" y="27992"/>
                      <a:pt x="346" y="27914"/>
                    </a:cubicBezTo>
                    <a:cubicBezTo>
                      <a:pt x="441" y="23283"/>
                      <a:pt x="322" y="18639"/>
                      <a:pt x="322" y="14008"/>
                    </a:cubicBezTo>
                    <a:cubicBezTo>
                      <a:pt x="322" y="9376"/>
                      <a:pt x="322" y="4733"/>
                      <a:pt x="310" y="90"/>
                    </a:cubicBezTo>
                    <a:cubicBezTo>
                      <a:pt x="310" y="30"/>
                      <a:pt x="263" y="0"/>
                      <a:pt x="2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54" name="Google Shape;2368;p38">
                <a:extLst>
                  <a:ext uri="{FF2B5EF4-FFF2-40B4-BE49-F238E27FC236}">
                    <a16:creationId xmlns:a16="http://schemas.microsoft.com/office/drawing/2014/main" id="{1DDCD501-5291-650A-4053-DB1C8468A314}"/>
                  </a:ext>
                </a:extLst>
              </p:cNvPr>
              <p:cNvSpPr/>
              <p:nvPr/>
            </p:nvSpPr>
            <p:spPr>
              <a:xfrm>
                <a:off x="1070957" y="3273370"/>
                <a:ext cx="1504564" cy="14691"/>
              </a:xfrm>
              <a:custGeom>
                <a:avLst/>
                <a:gdLst/>
                <a:ahLst/>
                <a:cxnLst/>
                <a:rect l="l" t="t" r="r" b="b"/>
                <a:pathLst>
                  <a:path w="45983" h="449" extrusionOk="0">
                    <a:moveTo>
                      <a:pt x="33046" y="1"/>
                    </a:moveTo>
                    <a:cubicBezTo>
                      <a:pt x="25424" y="1"/>
                      <a:pt x="17800" y="46"/>
                      <a:pt x="10181" y="77"/>
                    </a:cubicBezTo>
                    <a:cubicBezTo>
                      <a:pt x="6823" y="101"/>
                      <a:pt x="3478" y="124"/>
                      <a:pt x="120" y="160"/>
                    </a:cubicBezTo>
                    <a:cubicBezTo>
                      <a:pt x="1" y="160"/>
                      <a:pt x="1" y="327"/>
                      <a:pt x="120" y="327"/>
                    </a:cubicBezTo>
                    <a:cubicBezTo>
                      <a:pt x="11967" y="434"/>
                      <a:pt x="23813" y="434"/>
                      <a:pt x="35660" y="446"/>
                    </a:cubicBezTo>
                    <a:cubicBezTo>
                      <a:pt x="37339" y="446"/>
                      <a:pt x="39018" y="449"/>
                      <a:pt x="40696" y="449"/>
                    </a:cubicBezTo>
                    <a:cubicBezTo>
                      <a:pt x="42375" y="449"/>
                      <a:pt x="44054" y="446"/>
                      <a:pt x="45733" y="434"/>
                    </a:cubicBezTo>
                    <a:cubicBezTo>
                      <a:pt x="45983" y="434"/>
                      <a:pt x="45983" y="53"/>
                      <a:pt x="45733" y="53"/>
                    </a:cubicBezTo>
                    <a:cubicBezTo>
                      <a:pt x="41505" y="15"/>
                      <a:pt x="37276" y="1"/>
                      <a:pt x="33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55" name="Google Shape;2369;p38">
                <a:extLst>
                  <a:ext uri="{FF2B5EF4-FFF2-40B4-BE49-F238E27FC236}">
                    <a16:creationId xmlns:a16="http://schemas.microsoft.com/office/drawing/2014/main" id="{8B3619AC-79BE-1BF9-D519-CAA61C186D31}"/>
                  </a:ext>
                </a:extLst>
              </p:cNvPr>
              <p:cNvSpPr/>
              <p:nvPr/>
            </p:nvSpPr>
            <p:spPr>
              <a:xfrm>
                <a:off x="2554089" y="2319549"/>
                <a:ext cx="11321" cy="940765"/>
              </a:xfrm>
              <a:custGeom>
                <a:avLst/>
                <a:gdLst/>
                <a:ahLst/>
                <a:cxnLst/>
                <a:rect l="l" t="t" r="r" b="b"/>
                <a:pathLst>
                  <a:path w="346" h="28752" extrusionOk="0">
                    <a:moveTo>
                      <a:pt x="173" y="1"/>
                    </a:moveTo>
                    <a:cubicBezTo>
                      <a:pt x="98" y="1"/>
                      <a:pt x="24" y="52"/>
                      <a:pt x="24" y="153"/>
                    </a:cubicBezTo>
                    <a:cubicBezTo>
                      <a:pt x="0" y="9654"/>
                      <a:pt x="60" y="19167"/>
                      <a:pt x="95" y="28680"/>
                    </a:cubicBezTo>
                    <a:cubicBezTo>
                      <a:pt x="101" y="28728"/>
                      <a:pt x="137" y="28751"/>
                      <a:pt x="173" y="28751"/>
                    </a:cubicBezTo>
                    <a:cubicBezTo>
                      <a:pt x="208" y="28751"/>
                      <a:pt x="244" y="28728"/>
                      <a:pt x="250" y="28680"/>
                    </a:cubicBezTo>
                    <a:cubicBezTo>
                      <a:pt x="286" y="19167"/>
                      <a:pt x="345" y="9654"/>
                      <a:pt x="321" y="153"/>
                    </a:cubicBezTo>
                    <a:cubicBezTo>
                      <a:pt x="321" y="52"/>
                      <a:pt x="247" y="1"/>
                      <a:pt x="1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56" name="Google Shape;2370;p38">
                <a:extLst>
                  <a:ext uri="{FF2B5EF4-FFF2-40B4-BE49-F238E27FC236}">
                    <a16:creationId xmlns:a16="http://schemas.microsoft.com/office/drawing/2014/main" id="{F8428173-13F6-BEB1-B50C-3A54D6EA034F}"/>
                  </a:ext>
                </a:extLst>
              </p:cNvPr>
              <p:cNvSpPr/>
              <p:nvPr/>
            </p:nvSpPr>
            <p:spPr>
              <a:xfrm>
                <a:off x="1070205" y="2245700"/>
                <a:ext cx="1489349" cy="17538"/>
              </a:xfrm>
              <a:custGeom>
                <a:avLst/>
                <a:gdLst/>
                <a:ahLst/>
                <a:cxnLst/>
                <a:rect l="l" t="t" r="r" b="b"/>
                <a:pathLst>
                  <a:path w="45518" h="536" extrusionOk="0">
                    <a:moveTo>
                      <a:pt x="42043" y="1"/>
                    </a:moveTo>
                    <a:cubicBezTo>
                      <a:pt x="40205" y="1"/>
                      <a:pt x="38362" y="52"/>
                      <a:pt x="36528" y="52"/>
                    </a:cubicBezTo>
                    <a:cubicBezTo>
                      <a:pt x="33623" y="52"/>
                      <a:pt x="30683" y="52"/>
                      <a:pt x="27765" y="64"/>
                    </a:cubicBezTo>
                    <a:cubicBezTo>
                      <a:pt x="21872" y="64"/>
                      <a:pt x="15978" y="76"/>
                      <a:pt x="10085" y="100"/>
                    </a:cubicBezTo>
                    <a:cubicBezTo>
                      <a:pt x="6775" y="124"/>
                      <a:pt x="3453" y="148"/>
                      <a:pt x="143" y="159"/>
                    </a:cubicBezTo>
                    <a:cubicBezTo>
                      <a:pt x="0" y="159"/>
                      <a:pt x="0" y="374"/>
                      <a:pt x="143" y="374"/>
                    </a:cubicBezTo>
                    <a:cubicBezTo>
                      <a:pt x="11871" y="421"/>
                      <a:pt x="23610" y="457"/>
                      <a:pt x="35338" y="481"/>
                    </a:cubicBezTo>
                    <a:cubicBezTo>
                      <a:pt x="37375" y="481"/>
                      <a:pt x="39425" y="535"/>
                      <a:pt x="41470" y="535"/>
                    </a:cubicBezTo>
                    <a:cubicBezTo>
                      <a:pt x="42747" y="535"/>
                      <a:pt x="44023" y="514"/>
                      <a:pt x="45291" y="445"/>
                    </a:cubicBezTo>
                    <a:cubicBezTo>
                      <a:pt x="45518" y="433"/>
                      <a:pt x="45518" y="100"/>
                      <a:pt x="45291" y="76"/>
                    </a:cubicBezTo>
                    <a:cubicBezTo>
                      <a:pt x="44212" y="19"/>
                      <a:pt x="43128" y="1"/>
                      <a:pt x="420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</p:grpSp>
        <p:sp>
          <p:nvSpPr>
            <p:cNvPr id="6151" name="Google Shape;2373;p38">
              <a:extLst>
                <a:ext uri="{FF2B5EF4-FFF2-40B4-BE49-F238E27FC236}">
                  <a16:creationId xmlns:a16="http://schemas.microsoft.com/office/drawing/2014/main" id="{11AA002E-6B07-59FF-01D1-F241401B1116}"/>
                </a:ext>
              </a:extLst>
            </p:cNvPr>
            <p:cNvSpPr txBox="1"/>
            <p:nvPr/>
          </p:nvSpPr>
          <p:spPr>
            <a:xfrm>
              <a:off x="915530" y="2284577"/>
              <a:ext cx="1379852" cy="893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43800" rIns="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lang="en-US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>
                <a:spcBef>
                  <a:spcPts val="0"/>
                </a:spcBef>
              </a:pPr>
              <a:endParaRPr lang="en-US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>
                <a:spcBef>
                  <a:spcPts val="0"/>
                </a:spcBef>
              </a:pPr>
              <a:r>
                <a:rPr lang="en-US" sz="3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1.d(ridge function)=</a:t>
              </a:r>
            </a:p>
            <a:p>
              <a:pPr>
                <a:spcBef>
                  <a:spcPts val="0"/>
                </a:spcBef>
              </a:pPr>
              <a:endParaRPr lang="en-U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>
                <a:spcBef>
                  <a:spcPts val="0"/>
                </a:spcBef>
              </a:pPr>
              <a:r>
                <a:rPr lang="en-US" sz="3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2. Solution when d(ridge function) = 0: </a:t>
              </a:r>
            </a:p>
            <a:p>
              <a:pPr>
                <a:spcBef>
                  <a:spcPts val="0"/>
                </a:spcBef>
              </a:pPr>
              <a:endParaRPr lang="en-US" sz="4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>
                <a:spcBef>
                  <a:spcPts val="0"/>
                </a:spcBef>
              </a:pPr>
              <a:r>
                <a:rPr lang="en-US" sz="3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always &gt; 0 whatever the penalty rate</a:t>
              </a:r>
            </a:p>
            <a:p>
              <a:pPr>
                <a:spcBef>
                  <a:spcPts val="0"/>
                </a:spcBef>
              </a:pPr>
              <a:endParaRPr lang="en-U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>
                <a:spcBef>
                  <a:spcPts val="0"/>
                </a:spcBef>
              </a:pPr>
              <a:endParaRPr lang="en-US" sz="3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158" name="TextBox 6157">
            <a:extLst>
              <a:ext uri="{FF2B5EF4-FFF2-40B4-BE49-F238E27FC236}">
                <a16:creationId xmlns:a16="http://schemas.microsoft.com/office/drawing/2014/main" id="{2938CD19-AAD3-273A-F69C-5B78D4F384BE}"/>
              </a:ext>
            </a:extLst>
          </p:cNvPr>
          <p:cNvSpPr txBox="1"/>
          <p:nvPr/>
        </p:nvSpPr>
        <p:spPr>
          <a:xfrm>
            <a:off x="13746023" y="9039428"/>
            <a:ext cx="12832080" cy="7017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b="1" dirty="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The LASSO</a:t>
            </a:r>
            <a:endParaRPr lang="en-US" sz="4400" b="1" dirty="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6159" name="Picture 8">
            <a:hlinkClick r:id="rId6"/>
            <a:extLst>
              <a:ext uri="{FF2B5EF4-FFF2-40B4-BE49-F238E27FC236}">
                <a16:creationId xmlns:a16="http://schemas.microsoft.com/office/drawing/2014/main" id="{8DAF2A60-7282-D7DA-0DD4-3585A8035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4976" y="6109973"/>
            <a:ext cx="3197318" cy="438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0">
            <a:hlinkClick r:id="rId8"/>
            <a:extLst>
              <a:ext uri="{FF2B5EF4-FFF2-40B4-BE49-F238E27FC236}">
                <a16:creationId xmlns:a16="http://schemas.microsoft.com/office/drawing/2014/main" id="{39853CDA-A79D-7941-0E70-30E56F9CF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4094" y="10258061"/>
            <a:ext cx="3279056" cy="409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3" name="Picture 12">
            <a:hlinkClick r:id="rId10"/>
            <a:extLst>
              <a:ext uri="{FF2B5EF4-FFF2-40B4-BE49-F238E27FC236}">
                <a16:creationId xmlns:a16="http://schemas.microsoft.com/office/drawing/2014/main" id="{3958CCE5-BC58-5A93-09E0-8463DDCE9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2948" y="10240054"/>
            <a:ext cx="1800949" cy="45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14">
            <a:hlinkClick r:id="rId12"/>
            <a:extLst>
              <a:ext uri="{FF2B5EF4-FFF2-40B4-BE49-F238E27FC236}">
                <a16:creationId xmlns:a16="http://schemas.microsoft.com/office/drawing/2014/main" id="{905996AB-0EC3-3587-1886-460DE40DC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4094" y="10844787"/>
            <a:ext cx="3279056" cy="409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16">
            <a:hlinkClick r:id="rId14"/>
            <a:extLst>
              <a:ext uri="{FF2B5EF4-FFF2-40B4-BE49-F238E27FC236}">
                <a16:creationId xmlns:a16="http://schemas.microsoft.com/office/drawing/2014/main" id="{DE895224-4504-3CAA-283F-956AFD200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2948" y="10804433"/>
            <a:ext cx="1800944" cy="45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6" name="Picture 18" descr="Green Tick Checkmark Vector Icon For Checkbox Marker Symbol Stock  Illustration - Download Image Now">
            <a:extLst>
              <a:ext uri="{FF2B5EF4-FFF2-40B4-BE49-F238E27FC236}">
                <a16:creationId xmlns:a16="http://schemas.microsoft.com/office/drawing/2014/main" id="{C3D428FB-035D-DE64-80CB-E729422A8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7590" y="12176286"/>
            <a:ext cx="802757" cy="80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167" name="Google Shape;2388;p38">
            <a:extLst>
              <a:ext uri="{FF2B5EF4-FFF2-40B4-BE49-F238E27FC236}">
                <a16:creationId xmlns:a16="http://schemas.microsoft.com/office/drawing/2014/main" id="{21AB1C70-F430-D72B-6CF1-314E35DB7837}"/>
              </a:ext>
            </a:extLst>
          </p:cNvPr>
          <p:cNvGrpSpPr/>
          <p:nvPr/>
        </p:nvGrpSpPr>
        <p:grpSpPr>
          <a:xfrm>
            <a:off x="9738493" y="12140064"/>
            <a:ext cx="5656971" cy="1407791"/>
            <a:chOff x="857627" y="3528651"/>
            <a:chExt cx="1508065" cy="1042263"/>
          </a:xfrm>
        </p:grpSpPr>
        <p:grpSp>
          <p:nvGrpSpPr>
            <p:cNvPr id="6168" name="Google Shape;2389;p38">
              <a:extLst>
                <a:ext uri="{FF2B5EF4-FFF2-40B4-BE49-F238E27FC236}">
                  <a16:creationId xmlns:a16="http://schemas.microsoft.com/office/drawing/2014/main" id="{597055A6-B18E-7E73-3975-0C5E05FD5520}"/>
                </a:ext>
              </a:extLst>
            </p:cNvPr>
            <p:cNvGrpSpPr/>
            <p:nvPr/>
          </p:nvGrpSpPr>
          <p:grpSpPr>
            <a:xfrm>
              <a:off x="857627" y="3528651"/>
              <a:ext cx="1508065" cy="1042263"/>
              <a:chOff x="1052702" y="3528651"/>
              <a:chExt cx="1508065" cy="1042263"/>
            </a:xfrm>
          </p:grpSpPr>
          <p:sp>
            <p:nvSpPr>
              <p:cNvPr id="6172" name="Google Shape;2390;p38">
                <a:extLst>
                  <a:ext uri="{FF2B5EF4-FFF2-40B4-BE49-F238E27FC236}">
                    <a16:creationId xmlns:a16="http://schemas.microsoft.com/office/drawing/2014/main" id="{6ED0402B-F822-C40D-93AE-5D87D3360199}"/>
                  </a:ext>
                </a:extLst>
              </p:cNvPr>
              <p:cNvSpPr/>
              <p:nvPr/>
            </p:nvSpPr>
            <p:spPr>
              <a:xfrm>
                <a:off x="1052702" y="3650926"/>
                <a:ext cx="14462" cy="917076"/>
              </a:xfrm>
              <a:custGeom>
                <a:avLst/>
                <a:gdLst/>
                <a:ahLst/>
                <a:cxnLst/>
                <a:rect l="l" t="t" r="r" b="b"/>
                <a:pathLst>
                  <a:path w="442" h="28028" extrusionOk="0">
                    <a:moveTo>
                      <a:pt x="227" y="0"/>
                    </a:moveTo>
                    <a:cubicBezTo>
                      <a:pt x="179" y="0"/>
                      <a:pt x="132" y="33"/>
                      <a:pt x="132" y="99"/>
                    </a:cubicBezTo>
                    <a:cubicBezTo>
                      <a:pt x="132" y="4730"/>
                      <a:pt x="132" y="9362"/>
                      <a:pt x="120" y="14005"/>
                    </a:cubicBezTo>
                    <a:cubicBezTo>
                      <a:pt x="120" y="18637"/>
                      <a:pt x="1" y="23280"/>
                      <a:pt x="96" y="27912"/>
                    </a:cubicBezTo>
                    <a:cubicBezTo>
                      <a:pt x="102" y="27989"/>
                      <a:pt x="161" y="28028"/>
                      <a:pt x="222" y="28028"/>
                    </a:cubicBezTo>
                    <a:cubicBezTo>
                      <a:pt x="283" y="28028"/>
                      <a:pt x="346" y="27989"/>
                      <a:pt x="358" y="27912"/>
                    </a:cubicBezTo>
                    <a:cubicBezTo>
                      <a:pt x="441" y="23280"/>
                      <a:pt x="334" y="18637"/>
                      <a:pt x="334" y="14005"/>
                    </a:cubicBezTo>
                    <a:cubicBezTo>
                      <a:pt x="322" y="9374"/>
                      <a:pt x="334" y="4730"/>
                      <a:pt x="322" y="99"/>
                    </a:cubicBezTo>
                    <a:cubicBezTo>
                      <a:pt x="322" y="33"/>
                      <a:pt x="274" y="0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73" name="Google Shape;2391;p38">
                <a:extLst>
                  <a:ext uri="{FF2B5EF4-FFF2-40B4-BE49-F238E27FC236}">
                    <a16:creationId xmlns:a16="http://schemas.microsoft.com/office/drawing/2014/main" id="{DEC3BC71-74F7-057C-D464-110799FAF1E0}"/>
                  </a:ext>
                </a:extLst>
              </p:cNvPr>
              <p:cNvSpPr/>
              <p:nvPr/>
            </p:nvSpPr>
            <p:spPr>
              <a:xfrm>
                <a:off x="1056203" y="4556223"/>
                <a:ext cx="1504564" cy="14691"/>
              </a:xfrm>
              <a:custGeom>
                <a:avLst/>
                <a:gdLst/>
                <a:ahLst/>
                <a:cxnLst/>
                <a:rect l="l" t="t" r="r" b="b"/>
                <a:pathLst>
                  <a:path w="45983" h="449" extrusionOk="0">
                    <a:moveTo>
                      <a:pt x="33047" y="1"/>
                    </a:moveTo>
                    <a:cubicBezTo>
                      <a:pt x="25425" y="1"/>
                      <a:pt x="17804" y="46"/>
                      <a:pt x="10193" y="77"/>
                    </a:cubicBezTo>
                    <a:cubicBezTo>
                      <a:pt x="6835" y="101"/>
                      <a:pt x="3477" y="125"/>
                      <a:pt x="120" y="160"/>
                    </a:cubicBezTo>
                    <a:cubicBezTo>
                      <a:pt x="1" y="160"/>
                      <a:pt x="1" y="327"/>
                      <a:pt x="120" y="327"/>
                    </a:cubicBezTo>
                    <a:cubicBezTo>
                      <a:pt x="11967" y="434"/>
                      <a:pt x="23813" y="434"/>
                      <a:pt x="35660" y="446"/>
                    </a:cubicBezTo>
                    <a:cubicBezTo>
                      <a:pt x="37339" y="446"/>
                      <a:pt x="39018" y="449"/>
                      <a:pt x="40696" y="449"/>
                    </a:cubicBezTo>
                    <a:cubicBezTo>
                      <a:pt x="42375" y="449"/>
                      <a:pt x="44054" y="446"/>
                      <a:pt x="45733" y="434"/>
                    </a:cubicBezTo>
                    <a:cubicBezTo>
                      <a:pt x="45983" y="434"/>
                      <a:pt x="45983" y="53"/>
                      <a:pt x="45733" y="53"/>
                    </a:cubicBezTo>
                    <a:cubicBezTo>
                      <a:pt x="41505" y="15"/>
                      <a:pt x="37276" y="1"/>
                      <a:pt x="330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74" name="Google Shape;2392;p38">
                <a:extLst>
                  <a:ext uri="{FF2B5EF4-FFF2-40B4-BE49-F238E27FC236}">
                    <a16:creationId xmlns:a16="http://schemas.microsoft.com/office/drawing/2014/main" id="{FDFBF2EE-E203-C5C5-0CA0-97607320AD4C}"/>
                  </a:ext>
                </a:extLst>
              </p:cNvPr>
              <p:cNvSpPr/>
              <p:nvPr/>
            </p:nvSpPr>
            <p:spPr>
              <a:xfrm>
                <a:off x="2539695" y="3602435"/>
                <a:ext cx="10961" cy="940733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8751" extrusionOk="0">
                    <a:moveTo>
                      <a:pt x="161" y="0"/>
                    </a:moveTo>
                    <a:cubicBezTo>
                      <a:pt x="87" y="0"/>
                      <a:pt x="13" y="51"/>
                      <a:pt x="13" y="152"/>
                    </a:cubicBezTo>
                    <a:cubicBezTo>
                      <a:pt x="1" y="9653"/>
                      <a:pt x="48" y="19166"/>
                      <a:pt x="84" y="28679"/>
                    </a:cubicBezTo>
                    <a:cubicBezTo>
                      <a:pt x="90" y="28727"/>
                      <a:pt x="129" y="28751"/>
                      <a:pt x="167" y="28751"/>
                    </a:cubicBezTo>
                    <a:cubicBezTo>
                      <a:pt x="206" y="28751"/>
                      <a:pt x="245" y="28727"/>
                      <a:pt x="251" y="28679"/>
                    </a:cubicBezTo>
                    <a:cubicBezTo>
                      <a:pt x="287" y="19166"/>
                      <a:pt x="334" y="9653"/>
                      <a:pt x="310" y="152"/>
                    </a:cubicBezTo>
                    <a:cubicBezTo>
                      <a:pt x="310" y="51"/>
                      <a:pt x="236" y="0"/>
                      <a:pt x="1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75" name="Google Shape;2393;p38">
                <a:extLst>
                  <a:ext uri="{FF2B5EF4-FFF2-40B4-BE49-F238E27FC236}">
                    <a16:creationId xmlns:a16="http://schemas.microsoft.com/office/drawing/2014/main" id="{8CD65369-B193-1D81-50A7-A98585064C8C}"/>
                  </a:ext>
                </a:extLst>
              </p:cNvPr>
              <p:cNvSpPr/>
              <p:nvPr/>
            </p:nvSpPr>
            <p:spPr>
              <a:xfrm>
                <a:off x="1055418" y="3528651"/>
                <a:ext cx="1489382" cy="17440"/>
              </a:xfrm>
              <a:custGeom>
                <a:avLst/>
                <a:gdLst/>
                <a:ahLst/>
                <a:cxnLst/>
                <a:rect l="l" t="t" r="r" b="b"/>
                <a:pathLst>
                  <a:path w="45519" h="533" extrusionOk="0">
                    <a:moveTo>
                      <a:pt x="41893" y="1"/>
                    </a:moveTo>
                    <a:cubicBezTo>
                      <a:pt x="40103" y="1"/>
                      <a:pt x="38312" y="50"/>
                      <a:pt x="36529" y="50"/>
                    </a:cubicBezTo>
                    <a:cubicBezTo>
                      <a:pt x="33624" y="50"/>
                      <a:pt x="30695" y="50"/>
                      <a:pt x="27766" y="61"/>
                    </a:cubicBezTo>
                    <a:cubicBezTo>
                      <a:pt x="21873" y="61"/>
                      <a:pt x="15979" y="73"/>
                      <a:pt x="10097" y="97"/>
                    </a:cubicBezTo>
                    <a:cubicBezTo>
                      <a:pt x="6776" y="121"/>
                      <a:pt x="3454" y="145"/>
                      <a:pt x="144" y="157"/>
                    </a:cubicBezTo>
                    <a:cubicBezTo>
                      <a:pt x="1" y="157"/>
                      <a:pt x="1" y="371"/>
                      <a:pt x="144" y="371"/>
                    </a:cubicBezTo>
                    <a:cubicBezTo>
                      <a:pt x="11871" y="419"/>
                      <a:pt x="23611" y="454"/>
                      <a:pt x="35351" y="478"/>
                    </a:cubicBezTo>
                    <a:cubicBezTo>
                      <a:pt x="37380" y="478"/>
                      <a:pt x="39428" y="532"/>
                      <a:pt x="41474" y="532"/>
                    </a:cubicBezTo>
                    <a:cubicBezTo>
                      <a:pt x="42753" y="532"/>
                      <a:pt x="44031" y="511"/>
                      <a:pt x="45304" y="442"/>
                    </a:cubicBezTo>
                    <a:cubicBezTo>
                      <a:pt x="45519" y="431"/>
                      <a:pt x="45519" y="97"/>
                      <a:pt x="45304" y="85"/>
                    </a:cubicBezTo>
                    <a:cubicBezTo>
                      <a:pt x="44170" y="20"/>
                      <a:pt x="43032" y="1"/>
                      <a:pt x="418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</p:grpSp>
        <p:grpSp>
          <p:nvGrpSpPr>
            <p:cNvPr id="6169" name="Google Shape;2394;p38">
              <a:extLst>
                <a:ext uri="{FF2B5EF4-FFF2-40B4-BE49-F238E27FC236}">
                  <a16:creationId xmlns:a16="http://schemas.microsoft.com/office/drawing/2014/main" id="{2920DB50-2EC6-C17F-00EE-C5C63C993507}"/>
                </a:ext>
              </a:extLst>
            </p:cNvPr>
            <p:cNvGrpSpPr/>
            <p:nvPr/>
          </p:nvGrpSpPr>
          <p:grpSpPr>
            <a:xfrm>
              <a:off x="919933" y="3718040"/>
              <a:ext cx="1381693" cy="642600"/>
              <a:chOff x="441047" y="2651768"/>
              <a:chExt cx="1297730" cy="642600"/>
            </a:xfrm>
          </p:grpSpPr>
          <p:sp>
            <p:nvSpPr>
              <p:cNvPr id="6170" name="Google Shape;2395;p38">
                <a:extLst>
                  <a:ext uri="{FF2B5EF4-FFF2-40B4-BE49-F238E27FC236}">
                    <a16:creationId xmlns:a16="http://schemas.microsoft.com/office/drawing/2014/main" id="{32C70DB7-6355-FD70-8446-B927A3AB3535}"/>
                  </a:ext>
                </a:extLst>
              </p:cNvPr>
              <p:cNvSpPr txBox="1"/>
              <p:nvPr/>
            </p:nvSpPr>
            <p:spPr>
              <a:xfrm>
                <a:off x="442777" y="2651768"/>
                <a:ext cx="1296000" cy="2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43800" rIns="0" bIns="24380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</a:pPr>
                <a:endParaRPr sz="11733" b="1" dirty="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171" name="Google Shape;2396;p38">
                <a:extLst>
                  <a:ext uri="{FF2B5EF4-FFF2-40B4-BE49-F238E27FC236}">
                    <a16:creationId xmlns:a16="http://schemas.microsoft.com/office/drawing/2014/main" id="{018FEA34-DBDC-1089-0FB6-6818B1F532EA}"/>
                  </a:ext>
                </a:extLst>
              </p:cNvPr>
              <p:cNvSpPr txBox="1"/>
              <p:nvPr/>
            </p:nvSpPr>
            <p:spPr>
              <a:xfrm>
                <a:off x="441047" y="2852168"/>
                <a:ext cx="1296000" cy="4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43800" rIns="0" bIns="24380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</a:pPr>
                <a:r>
                  <a:rPr lang="en-US" sz="3200" b="1" dirty="0">
                    <a:solidFill>
                      <a:schemeClr val="accent3"/>
                    </a:solidFill>
                    <a:latin typeface="Fira Sans Extra Condensed"/>
                    <a:ea typeface="Fira Sans Extra Condensed"/>
                    <a:cs typeface="Fira Sans Extra Condensed"/>
                    <a:sym typeface="Fira Sans Extra Condensed"/>
                  </a:rPr>
                  <a:t>The LASSO</a:t>
                </a:r>
              </a:p>
              <a:p>
                <a:pPr algn="ctr"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then OLS</a:t>
                </a:r>
              </a:p>
            </p:txBody>
          </p:sp>
        </p:grpSp>
      </p:grpSp>
      <p:grpSp>
        <p:nvGrpSpPr>
          <p:cNvPr id="6176" name="Google Shape;2388;p38">
            <a:extLst>
              <a:ext uri="{FF2B5EF4-FFF2-40B4-BE49-F238E27FC236}">
                <a16:creationId xmlns:a16="http://schemas.microsoft.com/office/drawing/2014/main" id="{2F1171E2-7705-4E8C-3284-0E0AE8CAA560}"/>
              </a:ext>
            </a:extLst>
          </p:cNvPr>
          <p:cNvGrpSpPr/>
          <p:nvPr/>
        </p:nvGrpSpPr>
        <p:grpSpPr>
          <a:xfrm>
            <a:off x="786890" y="4897179"/>
            <a:ext cx="6749069" cy="2779368"/>
            <a:chOff x="857627" y="3528651"/>
            <a:chExt cx="1508065" cy="1042263"/>
          </a:xfrm>
        </p:grpSpPr>
        <p:grpSp>
          <p:nvGrpSpPr>
            <p:cNvPr id="6177" name="Google Shape;2389;p38">
              <a:extLst>
                <a:ext uri="{FF2B5EF4-FFF2-40B4-BE49-F238E27FC236}">
                  <a16:creationId xmlns:a16="http://schemas.microsoft.com/office/drawing/2014/main" id="{EAEBEEB8-55AE-8296-D98D-ACEED6F47A5F}"/>
                </a:ext>
              </a:extLst>
            </p:cNvPr>
            <p:cNvGrpSpPr/>
            <p:nvPr/>
          </p:nvGrpSpPr>
          <p:grpSpPr>
            <a:xfrm>
              <a:off x="857627" y="3528651"/>
              <a:ext cx="1508065" cy="1042263"/>
              <a:chOff x="1052702" y="3528651"/>
              <a:chExt cx="1508065" cy="1042263"/>
            </a:xfrm>
          </p:grpSpPr>
          <p:sp>
            <p:nvSpPr>
              <p:cNvPr id="6181" name="Google Shape;2390;p38">
                <a:extLst>
                  <a:ext uri="{FF2B5EF4-FFF2-40B4-BE49-F238E27FC236}">
                    <a16:creationId xmlns:a16="http://schemas.microsoft.com/office/drawing/2014/main" id="{CDDF9D18-9A31-CDBD-52F8-ED5413073B27}"/>
                  </a:ext>
                </a:extLst>
              </p:cNvPr>
              <p:cNvSpPr/>
              <p:nvPr/>
            </p:nvSpPr>
            <p:spPr>
              <a:xfrm>
                <a:off x="1052702" y="3650926"/>
                <a:ext cx="14462" cy="917076"/>
              </a:xfrm>
              <a:custGeom>
                <a:avLst/>
                <a:gdLst/>
                <a:ahLst/>
                <a:cxnLst/>
                <a:rect l="l" t="t" r="r" b="b"/>
                <a:pathLst>
                  <a:path w="442" h="28028" extrusionOk="0">
                    <a:moveTo>
                      <a:pt x="227" y="0"/>
                    </a:moveTo>
                    <a:cubicBezTo>
                      <a:pt x="179" y="0"/>
                      <a:pt x="132" y="33"/>
                      <a:pt x="132" y="99"/>
                    </a:cubicBezTo>
                    <a:cubicBezTo>
                      <a:pt x="132" y="4730"/>
                      <a:pt x="132" y="9362"/>
                      <a:pt x="120" y="14005"/>
                    </a:cubicBezTo>
                    <a:cubicBezTo>
                      <a:pt x="120" y="18637"/>
                      <a:pt x="1" y="23280"/>
                      <a:pt x="96" y="27912"/>
                    </a:cubicBezTo>
                    <a:cubicBezTo>
                      <a:pt x="102" y="27989"/>
                      <a:pt x="161" y="28028"/>
                      <a:pt x="222" y="28028"/>
                    </a:cubicBezTo>
                    <a:cubicBezTo>
                      <a:pt x="283" y="28028"/>
                      <a:pt x="346" y="27989"/>
                      <a:pt x="358" y="27912"/>
                    </a:cubicBezTo>
                    <a:cubicBezTo>
                      <a:pt x="441" y="23280"/>
                      <a:pt x="334" y="18637"/>
                      <a:pt x="334" y="14005"/>
                    </a:cubicBezTo>
                    <a:cubicBezTo>
                      <a:pt x="322" y="9374"/>
                      <a:pt x="334" y="4730"/>
                      <a:pt x="322" y="99"/>
                    </a:cubicBezTo>
                    <a:cubicBezTo>
                      <a:pt x="322" y="33"/>
                      <a:pt x="274" y="0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82" name="Google Shape;2391;p38">
                <a:extLst>
                  <a:ext uri="{FF2B5EF4-FFF2-40B4-BE49-F238E27FC236}">
                    <a16:creationId xmlns:a16="http://schemas.microsoft.com/office/drawing/2014/main" id="{BE3AADF9-B56B-6951-582E-09FAF7EFD4E6}"/>
                  </a:ext>
                </a:extLst>
              </p:cNvPr>
              <p:cNvSpPr/>
              <p:nvPr/>
            </p:nvSpPr>
            <p:spPr>
              <a:xfrm>
                <a:off x="1056203" y="4556223"/>
                <a:ext cx="1504564" cy="14691"/>
              </a:xfrm>
              <a:custGeom>
                <a:avLst/>
                <a:gdLst/>
                <a:ahLst/>
                <a:cxnLst/>
                <a:rect l="l" t="t" r="r" b="b"/>
                <a:pathLst>
                  <a:path w="45983" h="449" extrusionOk="0">
                    <a:moveTo>
                      <a:pt x="33047" y="1"/>
                    </a:moveTo>
                    <a:cubicBezTo>
                      <a:pt x="25425" y="1"/>
                      <a:pt x="17804" y="46"/>
                      <a:pt x="10193" y="77"/>
                    </a:cubicBezTo>
                    <a:cubicBezTo>
                      <a:pt x="6835" y="101"/>
                      <a:pt x="3477" y="125"/>
                      <a:pt x="120" y="160"/>
                    </a:cubicBezTo>
                    <a:cubicBezTo>
                      <a:pt x="1" y="160"/>
                      <a:pt x="1" y="327"/>
                      <a:pt x="120" y="327"/>
                    </a:cubicBezTo>
                    <a:cubicBezTo>
                      <a:pt x="11967" y="434"/>
                      <a:pt x="23813" y="434"/>
                      <a:pt x="35660" y="446"/>
                    </a:cubicBezTo>
                    <a:cubicBezTo>
                      <a:pt x="37339" y="446"/>
                      <a:pt x="39018" y="449"/>
                      <a:pt x="40696" y="449"/>
                    </a:cubicBezTo>
                    <a:cubicBezTo>
                      <a:pt x="42375" y="449"/>
                      <a:pt x="44054" y="446"/>
                      <a:pt x="45733" y="434"/>
                    </a:cubicBezTo>
                    <a:cubicBezTo>
                      <a:pt x="45983" y="434"/>
                      <a:pt x="45983" y="53"/>
                      <a:pt x="45733" y="53"/>
                    </a:cubicBezTo>
                    <a:cubicBezTo>
                      <a:pt x="41505" y="15"/>
                      <a:pt x="37276" y="1"/>
                      <a:pt x="330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83" name="Google Shape;2392;p38">
                <a:extLst>
                  <a:ext uri="{FF2B5EF4-FFF2-40B4-BE49-F238E27FC236}">
                    <a16:creationId xmlns:a16="http://schemas.microsoft.com/office/drawing/2014/main" id="{2A0EA2C1-9CC3-C6DE-B76B-7015BE1C3569}"/>
                  </a:ext>
                </a:extLst>
              </p:cNvPr>
              <p:cNvSpPr/>
              <p:nvPr/>
            </p:nvSpPr>
            <p:spPr>
              <a:xfrm>
                <a:off x="2539695" y="3602435"/>
                <a:ext cx="10961" cy="940733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8751" extrusionOk="0">
                    <a:moveTo>
                      <a:pt x="161" y="0"/>
                    </a:moveTo>
                    <a:cubicBezTo>
                      <a:pt x="87" y="0"/>
                      <a:pt x="13" y="51"/>
                      <a:pt x="13" y="152"/>
                    </a:cubicBezTo>
                    <a:cubicBezTo>
                      <a:pt x="1" y="9653"/>
                      <a:pt x="48" y="19166"/>
                      <a:pt x="84" y="28679"/>
                    </a:cubicBezTo>
                    <a:cubicBezTo>
                      <a:pt x="90" y="28727"/>
                      <a:pt x="129" y="28751"/>
                      <a:pt x="167" y="28751"/>
                    </a:cubicBezTo>
                    <a:cubicBezTo>
                      <a:pt x="206" y="28751"/>
                      <a:pt x="245" y="28727"/>
                      <a:pt x="251" y="28679"/>
                    </a:cubicBezTo>
                    <a:cubicBezTo>
                      <a:pt x="287" y="19166"/>
                      <a:pt x="334" y="9653"/>
                      <a:pt x="310" y="152"/>
                    </a:cubicBezTo>
                    <a:cubicBezTo>
                      <a:pt x="310" y="51"/>
                      <a:pt x="236" y="0"/>
                      <a:pt x="1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84" name="Google Shape;2393;p38">
                <a:extLst>
                  <a:ext uri="{FF2B5EF4-FFF2-40B4-BE49-F238E27FC236}">
                    <a16:creationId xmlns:a16="http://schemas.microsoft.com/office/drawing/2014/main" id="{B1FD16F9-6B4F-19F8-7A69-5944EFCA1399}"/>
                  </a:ext>
                </a:extLst>
              </p:cNvPr>
              <p:cNvSpPr/>
              <p:nvPr/>
            </p:nvSpPr>
            <p:spPr>
              <a:xfrm>
                <a:off x="1055418" y="3528651"/>
                <a:ext cx="1489382" cy="17440"/>
              </a:xfrm>
              <a:custGeom>
                <a:avLst/>
                <a:gdLst/>
                <a:ahLst/>
                <a:cxnLst/>
                <a:rect l="l" t="t" r="r" b="b"/>
                <a:pathLst>
                  <a:path w="45519" h="533" extrusionOk="0">
                    <a:moveTo>
                      <a:pt x="41893" y="1"/>
                    </a:moveTo>
                    <a:cubicBezTo>
                      <a:pt x="40103" y="1"/>
                      <a:pt x="38312" y="50"/>
                      <a:pt x="36529" y="50"/>
                    </a:cubicBezTo>
                    <a:cubicBezTo>
                      <a:pt x="33624" y="50"/>
                      <a:pt x="30695" y="50"/>
                      <a:pt x="27766" y="61"/>
                    </a:cubicBezTo>
                    <a:cubicBezTo>
                      <a:pt x="21873" y="61"/>
                      <a:pt x="15979" y="73"/>
                      <a:pt x="10097" y="97"/>
                    </a:cubicBezTo>
                    <a:cubicBezTo>
                      <a:pt x="6776" y="121"/>
                      <a:pt x="3454" y="145"/>
                      <a:pt x="144" y="157"/>
                    </a:cubicBezTo>
                    <a:cubicBezTo>
                      <a:pt x="1" y="157"/>
                      <a:pt x="1" y="371"/>
                      <a:pt x="144" y="371"/>
                    </a:cubicBezTo>
                    <a:cubicBezTo>
                      <a:pt x="11871" y="419"/>
                      <a:pt x="23611" y="454"/>
                      <a:pt x="35351" y="478"/>
                    </a:cubicBezTo>
                    <a:cubicBezTo>
                      <a:pt x="37380" y="478"/>
                      <a:pt x="39428" y="532"/>
                      <a:pt x="41474" y="532"/>
                    </a:cubicBezTo>
                    <a:cubicBezTo>
                      <a:pt x="42753" y="532"/>
                      <a:pt x="44031" y="511"/>
                      <a:pt x="45304" y="442"/>
                    </a:cubicBezTo>
                    <a:cubicBezTo>
                      <a:pt x="45519" y="431"/>
                      <a:pt x="45519" y="97"/>
                      <a:pt x="45304" y="85"/>
                    </a:cubicBezTo>
                    <a:cubicBezTo>
                      <a:pt x="44170" y="20"/>
                      <a:pt x="43032" y="1"/>
                      <a:pt x="418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</p:grpSp>
        <p:grpSp>
          <p:nvGrpSpPr>
            <p:cNvPr id="6178" name="Google Shape;2394;p38">
              <a:extLst>
                <a:ext uri="{FF2B5EF4-FFF2-40B4-BE49-F238E27FC236}">
                  <a16:creationId xmlns:a16="http://schemas.microsoft.com/office/drawing/2014/main" id="{D7106CA0-4BFB-B4FC-2731-E76475B7530E}"/>
                </a:ext>
              </a:extLst>
            </p:cNvPr>
            <p:cNvGrpSpPr/>
            <p:nvPr/>
          </p:nvGrpSpPr>
          <p:grpSpPr>
            <a:xfrm>
              <a:off x="921775" y="3718040"/>
              <a:ext cx="1387041" cy="575861"/>
              <a:chOff x="442777" y="2651768"/>
              <a:chExt cx="1302753" cy="575861"/>
            </a:xfrm>
          </p:grpSpPr>
          <p:sp>
            <p:nvSpPr>
              <p:cNvPr id="6179" name="Google Shape;2395;p38">
                <a:extLst>
                  <a:ext uri="{FF2B5EF4-FFF2-40B4-BE49-F238E27FC236}">
                    <a16:creationId xmlns:a16="http://schemas.microsoft.com/office/drawing/2014/main" id="{E5D5C3F0-8804-2554-D76B-F1AF82F64955}"/>
                  </a:ext>
                </a:extLst>
              </p:cNvPr>
              <p:cNvSpPr txBox="1"/>
              <p:nvPr/>
            </p:nvSpPr>
            <p:spPr>
              <a:xfrm>
                <a:off x="442777" y="2651768"/>
                <a:ext cx="1296000" cy="2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43800" rIns="0" bIns="24380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</a:pPr>
                <a:endParaRPr sz="11733" b="1" dirty="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180" name="Google Shape;2396;p38">
                <a:extLst>
                  <a:ext uri="{FF2B5EF4-FFF2-40B4-BE49-F238E27FC236}">
                    <a16:creationId xmlns:a16="http://schemas.microsoft.com/office/drawing/2014/main" id="{FC812557-20FE-9776-D649-BE00B56D2E81}"/>
                  </a:ext>
                </a:extLst>
              </p:cNvPr>
              <p:cNvSpPr txBox="1"/>
              <p:nvPr/>
            </p:nvSpPr>
            <p:spPr>
              <a:xfrm>
                <a:off x="449530" y="2785429"/>
                <a:ext cx="1296000" cy="4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43800" rIns="0" bIns="24380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If</a:t>
                </a:r>
                <a:r>
                  <a:rPr lang="en-US" sz="3200" dirty="0">
                    <a:solidFill>
                      <a:srgbClr val="FF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 majority of correlations among predictors are small</a:t>
                </a:r>
                <a:r>
                  <a:rPr lang="en-US" sz="3200" dirty="0">
                    <a:solidFill>
                      <a:schemeClr val="dk1"/>
                    </a:solidFill>
                    <a:latin typeface="Roboto"/>
                    <a:ea typeface="Roboto"/>
                    <a:cs typeface="Roboto"/>
                    <a:sym typeface="Roboto"/>
                  </a:rPr>
                  <a:t>, </a:t>
                </a:r>
              </a:p>
              <a:p>
                <a:pPr algn="ctr"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PCA is not effective</a:t>
                </a:r>
              </a:p>
            </p:txBody>
          </p:sp>
        </p:grpSp>
      </p:grpSp>
      <p:grpSp>
        <p:nvGrpSpPr>
          <p:cNvPr id="6185" name="Google Shape;2353;p38">
            <a:extLst>
              <a:ext uri="{FF2B5EF4-FFF2-40B4-BE49-F238E27FC236}">
                <a16:creationId xmlns:a16="http://schemas.microsoft.com/office/drawing/2014/main" id="{22CC4128-D94F-CB9E-6A68-DE3ECFCA402D}"/>
              </a:ext>
            </a:extLst>
          </p:cNvPr>
          <p:cNvGrpSpPr/>
          <p:nvPr/>
        </p:nvGrpSpPr>
        <p:grpSpPr>
          <a:xfrm rot="14952057">
            <a:off x="19780439" y="11777426"/>
            <a:ext cx="509928" cy="253100"/>
            <a:chOff x="2759375" y="2507427"/>
            <a:chExt cx="1165650" cy="521099"/>
          </a:xfrm>
        </p:grpSpPr>
        <p:sp>
          <p:nvSpPr>
            <p:cNvPr id="6186" name="Google Shape;2354;p38">
              <a:extLst>
                <a:ext uri="{FF2B5EF4-FFF2-40B4-BE49-F238E27FC236}">
                  <a16:creationId xmlns:a16="http://schemas.microsoft.com/office/drawing/2014/main" id="{A7236856-8097-BA51-BFB0-2E23E4147A81}"/>
                </a:ext>
              </a:extLst>
            </p:cNvPr>
            <p:cNvSpPr/>
            <p:nvPr/>
          </p:nvSpPr>
          <p:spPr>
            <a:xfrm>
              <a:off x="2801911" y="2594659"/>
              <a:ext cx="1123114" cy="433867"/>
            </a:xfrm>
            <a:custGeom>
              <a:avLst/>
              <a:gdLst/>
              <a:ahLst/>
              <a:cxnLst/>
              <a:rect l="l" t="t" r="r" b="b"/>
              <a:pathLst>
                <a:path w="34325" h="13260" extrusionOk="0">
                  <a:moveTo>
                    <a:pt x="149" y="1"/>
                  </a:moveTo>
                  <a:cubicBezTo>
                    <a:pt x="36" y="1"/>
                    <a:pt x="1" y="180"/>
                    <a:pt x="129" y="234"/>
                  </a:cubicBezTo>
                  <a:lnTo>
                    <a:pt x="117" y="234"/>
                  </a:lnTo>
                  <a:cubicBezTo>
                    <a:pt x="5737" y="2484"/>
                    <a:pt x="11405" y="4615"/>
                    <a:pt x="17048" y="6770"/>
                  </a:cubicBezTo>
                  <a:cubicBezTo>
                    <a:pt x="22704" y="8937"/>
                    <a:pt x="28335" y="11128"/>
                    <a:pt x="34003" y="13247"/>
                  </a:cubicBezTo>
                  <a:cubicBezTo>
                    <a:pt x="34026" y="13255"/>
                    <a:pt x="34048" y="13259"/>
                    <a:pt x="34068" y="13259"/>
                  </a:cubicBezTo>
                  <a:cubicBezTo>
                    <a:pt x="34258" y="13259"/>
                    <a:pt x="34325" y="12940"/>
                    <a:pt x="34110" y="12854"/>
                  </a:cubicBezTo>
                  <a:cubicBezTo>
                    <a:pt x="28478" y="10652"/>
                    <a:pt x="22811" y="8533"/>
                    <a:pt x="17155" y="6389"/>
                  </a:cubicBezTo>
                  <a:cubicBezTo>
                    <a:pt x="11500" y="4246"/>
                    <a:pt x="5868" y="2067"/>
                    <a:pt x="189" y="8"/>
                  </a:cubicBezTo>
                  <a:cubicBezTo>
                    <a:pt x="175" y="3"/>
                    <a:pt x="162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 dirty="0"/>
            </a:p>
          </p:txBody>
        </p:sp>
        <p:sp>
          <p:nvSpPr>
            <p:cNvPr id="6187" name="Google Shape;2355;p38">
              <a:extLst>
                <a:ext uri="{FF2B5EF4-FFF2-40B4-BE49-F238E27FC236}">
                  <a16:creationId xmlns:a16="http://schemas.microsoft.com/office/drawing/2014/main" id="{AEAC3303-19C9-646B-BECE-B2222FB831D7}"/>
                </a:ext>
              </a:extLst>
            </p:cNvPr>
            <p:cNvSpPr/>
            <p:nvPr/>
          </p:nvSpPr>
          <p:spPr>
            <a:xfrm>
              <a:off x="2759375" y="2507427"/>
              <a:ext cx="149956" cy="191739"/>
            </a:xfrm>
            <a:custGeom>
              <a:avLst/>
              <a:gdLst/>
              <a:ahLst/>
              <a:cxnLst/>
              <a:rect l="l" t="t" r="r" b="b"/>
              <a:pathLst>
                <a:path w="4583" h="5860" extrusionOk="0">
                  <a:moveTo>
                    <a:pt x="4404" y="1"/>
                  </a:moveTo>
                  <a:cubicBezTo>
                    <a:pt x="4377" y="1"/>
                    <a:pt x="4348" y="10"/>
                    <a:pt x="4323" y="30"/>
                  </a:cubicBezTo>
                  <a:cubicBezTo>
                    <a:pt x="3037" y="1126"/>
                    <a:pt x="1834" y="2233"/>
                    <a:pt x="108" y="2495"/>
                  </a:cubicBezTo>
                  <a:cubicBezTo>
                    <a:pt x="24" y="2519"/>
                    <a:pt x="1" y="2614"/>
                    <a:pt x="48" y="2674"/>
                  </a:cubicBezTo>
                  <a:cubicBezTo>
                    <a:pt x="1132" y="3567"/>
                    <a:pt x="2060" y="4638"/>
                    <a:pt x="2810" y="5817"/>
                  </a:cubicBezTo>
                  <a:cubicBezTo>
                    <a:pt x="2826" y="5847"/>
                    <a:pt x="2849" y="5859"/>
                    <a:pt x="2873" y="5859"/>
                  </a:cubicBezTo>
                  <a:cubicBezTo>
                    <a:pt x="2923" y="5859"/>
                    <a:pt x="2974" y="5802"/>
                    <a:pt x="2941" y="5745"/>
                  </a:cubicBezTo>
                  <a:cubicBezTo>
                    <a:pt x="2230" y="4571"/>
                    <a:pt x="1326" y="3622"/>
                    <a:pt x="361" y="2674"/>
                  </a:cubicBezTo>
                  <a:lnTo>
                    <a:pt x="361" y="2674"/>
                  </a:lnTo>
                  <a:cubicBezTo>
                    <a:pt x="1992" y="2386"/>
                    <a:pt x="3306" y="1335"/>
                    <a:pt x="4489" y="209"/>
                  </a:cubicBezTo>
                  <a:cubicBezTo>
                    <a:pt x="4582" y="116"/>
                    <a:pt x="4501" y="1"/>
                    <a:pt x="44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/>
            </a:p>
          </p:txBody>
        </p:sp>
      </p:grpSp>
      <p:grpSp>
        <p:nvGrpSpPr>
          <p:cNvPr id="6188" name="Google Shape;2388;p38">
            <a:extLst>
              <a:ext uri="{FF2B5EF4-FFF2-40B4-BE49-F238E27FC236}">
                <a16:creationId xmlns:a16="http://schemas.microsoft.com/office/drawing/2014/main" id="{55581F90-DDC2-E985-2377-BEA0C295C3D7}"/>
              </a:ext>
            </a:extLst>
          </p:cNvPr>
          <p:cNvGrpSpPr/>
          <p:nvPr/>
        </p:nvGrpSpPr>
        <p:grpSpPr>
          <a:xfrm>
            <a:off x="17316599" y="12263366"/>
            <a:ext cx="5656971" cy="1407791"/>
            <a:chOff x="857627" y="3528651"/>
            <a:chExt cx="1508065" cy="1042263"/>
          </a:xfrm>
        </p:grpSpPr>
        <p:grpSp>
          <p:nvGrpSpPr>
            <p:cNvPr id="6189" name="Google Shape;2389;p38">
              <a:extLst>
                <a:ext uri="{FF2B5EF4-FFF2-40B4-BE49-F238E27FC236}">
                  <a16:creationId xmlns:a16="http://schemas.microsoft.com/office/drawing/2014/main" id="{137C6394-715D-6587-80CE-199547047620}"/>
                </a:ext>
              </a:extLst>
            </p:cNvPr>
            <p:cNvGrpSpPr/>
            <p:nvPr/>
          </p:nvGrpSpPr>
          <p:grpSpPr>
            <a:xfrm>
              <a:off x="857627" y="3528651"/>
              <a:ext cx="1508065" cy="1042263"/>
              <a:chOff x="1052702" y="3528651"/>
              <a:chExt cx="1508065" cy="1042263"/>
            </a:xfrm>
          </p:grpSpPr>
          <p:sp>
            <p:nvSpPr>
              <p:cNvPr id="6193" name="Google Shape;2390;p38">
                <a:extLst>
                  <a:ext uri="{FF2B5EF4-FFF2-40B4-BE49-F238E27FC236}">
                    <a16:creationId xmlns:a16="http://schemas.microsoft.com/office/drawing/2014/main" id="{0B096E72-6016-D3B8-290B-0D5B63B2004A}"/>
                  </a:ext>
                </a:extLst>
              </p:cNvPr>
              <p:cNvSpPr/>
              <p:nvPr/>
            </p:nvSpPr>
            <p:spPr>
              <a:xfrm>
                <a:off x="1052702" y="3650926"/>
                <a:ext cx="14462" cy="917076"/>
              </a:xfrm>
              <a:custGeom>
                <a:avLst/>
                <a:gdLst/>
                <a:ahLst/>
                <a:cxnLst/>
                <a:rect l="l" t="t" r="r" b="b"/>
                <a:pathLst>
                  <a:path w="442" h="28028" extrusionOk="0">
                    <a:moveTo>
                      <a:pt x="227" y="0"/>
                    </a:moveTo>
                    <a:cubicBezTo>
                      <a:pt x="179" y="0"/>
                      <a:pt x="132" y="33"/>
                      <a:pt x="132" y="99"/>
                    </a:cubicBezTo>
                    <a:cubicBezTo>
                      <a:pt x="132" y="4730"/>
                      <a:pt x="132" y="9362"/>
                      <a:pt x="120" y="14005"/>
                    </a:cubicBezTo>
                    <a:cubicBezTo>
                      <a:pt x="120" y="18637"/>
                      <a:pt x="1" y="23280"/>
                      <a:pt x="96" y="27912"/>
                    </a:cubicBezTo>
                    <a:cubicBezTo>
                      <a:pt x="102" y="27989"/>
                      <a:pt x="161" y="28028"/>
                      <a:pt x="222" y="28028"/>
                    </a:cubicBezTo>
                    <a:cubicBezTo>
                      <a:pt x="283" y="28028"/>
                      <a:pt x="346" y="27989"/>
                      <a:pt x="358" y="27912"/>
                    </a:cubicBezTo>
                    <a:cubicBezTo>
                      <a:pt x="441" y="23280"/>
                      <a:pt x="334" y="18637"/>
                      <a:pt x="334" y="14005"/>
                    </a:cubicBezTo>
                    <a:cubicBezTo>
                      <a:pt x="322" y="9374"/>
                      <a:pt x="334" y="4730"/>
                      <a:pt x="322" y="99"/>
                    </a:cubicBezTo>
                    <a:cubicBezTo>
                      <a:pt x="322" y="33"/>
                      <a:pt x="274" y="0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94" name="Google Shape;2391;p38">
                <a:extLst>
                  <a:ext uri="{FF2B5EF4-FFF2-40B4-BE49-F238E27FC236}">
                    <a16:creationId xmlns:a16="http://schemas.microsoft.com/office/drawing/2014/main" id="{9286E7E3-55A4-8737-B48D-EF0EDACB64F8}"/>
                  </a:ext>
                </a:extLst>
              </p:cNvPr>
              <p:cNvSpPr/>
              <p:nvPr/>
            </p:nvSpPr>
            <p:spPr>
              <a:xfrm>
                <a:off x="1056203" y="4556223"/>
                <a:ext cx="1504564" cy="14691"/>
              </a:xfrm>
              <a:custGeom>
                <a:avLst/>
                <a:gdLst/>
                <a:ahLst/>
                <a:cxnLst/>
                <a:rect l="l" t="t" r="r" b="b"/>
                <a:pathLst>
                  <a:path w="45983" h="449" extrusionOk="0">
                    <a:moveTo>
                      <a:pt x="33047" y="1"/>
                    </a:moveTo>
                    <a:cubicBezTo>
                      <a:pt x="25425" y="1"/>
                      <a:pt x="17804" y="46"/>
                      <a:pt x="10193" y="77"/>
                    </a:cubicBezTo>
                    <a:cubicBezTo>
                      <a:pt x="6835" y="101"/>
                      <a:pt x="3477" y="125"/>
                      <a:pt x="120" y="160"/>
                    </a:cubicBezTo>
                    <a:cubicBezTo>
                      <a:pt x="1" y="160"/>
                      <a:pt x="1" y="327"/>
                      <a:pt x="120" y="327"/>
                    </a:cubicBezTo>
                    <a:cubicBezTo>
                      <a:pt x="11967" y="434"/>
                      <a:pt x="23813" y="434"/>
                      <a:pt x="35660" y="446"/>
                    </a:cubicBezTo>
                    <a:cubicBezTo>
                      <a:pt x="37339" y="446"/>
                      <a:pt x="39018" y="449"/>
                      <a:pt x="40696" y="449"/>
                    </a:cubicBezTo>
                    <a:cubicBezTo>
                      <a:pt x="42375" y="449"/>
                      <a:pt x="44054" y="446"/>
                      <a:pt x="45733" y="434"/>
                    </a:cubicBezTo>
                    <a:cubicBezTo>
                      <a:pt x="45983" y="434"/>
                      <a:pt x="45983" y="53"/>
                      <a:pt x="45733" y="53"/>
                    </a:cubicBezTo>
                    <a:cubicBezTo>
                      <a:pt x="41505" y="15"/>
                      <a:pt x="37276" y="1"/>
                      <a:pt x="330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95" name="Google Shape;2392;p38">
                <a:extLst>
                  <a:ext uri="{FF2B5EF4-FFF2-40B4-BE49-F238E27FC236}">
                    <a16:creationId xmlns:a16="http://schemas.microsoft.com/office/drawing/2014/main" id="{984D42DB-FB76-DEA2-EE34-A76CE23520CF}"/>
                  </a:ext>
                </a:extLst>
              </p:cNvPr>
              <p:cNvSpPr/>
              <p:nvPr/>
            </p:nvSpPr>
            <p:spPr>
              <a:xfrm>
                <a:off x="2539695" y="3602435"/>
                <a:ext cx="10961" cy="940733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8751" extrusionOk="0">
                    <a:moveTo>
                      <a:pt x="161" y="0"/>
                    </a:moveTo>
                    <a:cubicBezTo>
                      <a:pt x="87" y="0"/>
                      <a:pt x="13" y="51"/>
                      <a:pt x="13" y="152"/>
                    </a:cubicBezTo>
                    <a:cubicBezTo>
                      <a:pt x="1" y="9653"/>
                      <a:pt x="48" y="19166"/>
                      <a:pt x="84" y="28679"/>
                    </a:cubicBezTo>
                    <a:cubicBezTo>
                      <a:pt x="90" y="28727"/>
                      <a:pt x="129" y="28751"/>
                      <a:pt x="167" y="28751"/>
                    </a:cubicBezTo>
                    <a:cubicBezTo>
                      <a:pt x="206" y="28751"/>
                      <a:pt x="245" y="28727"/>
                      <a:pt x="251" y="28679"/>
                    </a:cubicBezTo>
                    <a:cubicBezTo>
                      <a:pt x="287" y="19166"/>
                      <a:pt x="334" y="9653"/>
                      <a:pt x="310" y="152"/>
                    </a:cubicBezTo>
                    <a:cubicBezTo>
                      <a:pt x="310" y="51"/>
                      <a:pt x="236" y="0"/>
                      <a:pt x="1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  <p:sp>
            <p:nvSpPr>
              <p:cNvPr id="6196" name="Google Shape;2393;p38">
                <a:extLst>
                  <a:ext uri="{FF2B5EF4-FFF2-40B4-BE49-F238E27FC236}">
                    <a16:creationId xmlns:a16="http://schemas.microsoft.com/office/drawing/2014/main" id="{C56E34D4-6BD5-C7EF-AC63-C392E7B10031}"/>
                  </a:ext>
                </a:extLst>
              </p:cNvPr>
              <p:cNvSpPr/>
              <p:nvPr/>
            </p:nvSpPr>
            <p:spPr>
              <a:xfrm>
                <a:off x="1055418" y="3528651"/>
                <a:ext cx="1489382" cy="17440"/>
              </a:xfrm>
              <a:custGeom>
                <a:avLst/>
                <a:gdLst/>
                <a:ahLst/>
                <a:cxnLst/>
                <a:rect l="l" t="t" r="r" b="b"/>
                <a:pathLst>
                  <a:path w="45519" h="533" extrusionOk="0">
                    <a:moveTo>
                      <a:pt x="41893" y="1"/>
                    </a:moveTo>
                    <a:cubicBezTo>
                      <a:pt x="40103" y="1"/>
                      <a:pt x="38312" y="50"/>
                      <a:pt x="36529" y="50"/>
                    </a:cubicBezTo>
                    <a:cubicBezTo>
                      <a:pt x="33624" y="50"/>
                      <a:pt x="30695" y="50"/>
                      <a:pt x="27766" y="61"/>
                    </a:cubicBezTo>
                    <a:cubicBezTo>
                      <a:pt x="21873" y="61"/>
                      <a:pt x="15979" y="73"/>
                      <a:pt x="10097" y="97"/>
                    </a:cubicBezTo>
                    <a:cubicBezTo>
                      <a:pt x="6776" y="121"/>
                      <a:pt x="3454" y="145"/>
                      <a:pt x="144" y="157"/>
                    </a:cubicBezTo>
                    <a:cubicBezTo>
                      <a:pt x="1" y="157"/>
                      <a:pt x="1" y="371"/>
                      <a:pt x="144" y="371"/>
                    </a:cubicBezTo>
                    <a:cubicBezTo>
                      <a:pt x="11871" y="419"/>
                      <a:pt x="23611" y="454"/>
                      <a:pt x="35351" y="478"/>
                    </a:cubicBezTo>
                    <a:cubicBezTo>
                      <a:pt x="37380" y="478"/>
                      <a:pt x="39428" y="532"/>
                      <a:pt x="41474" y="532"/>
                    </a:cubicBezTo>
                    <a:cubicBezTo>
                      <a:pt x="42753" y="532"/>
                      <a:pt x="44031" y="511"/>
                      <a:pt x="45304" y="442"/>
                    </a:cubicBezTo>
                    <a:cubicBezTo>
                      <a:pt x="45519" y="431"/>
                      <a:pt x="45519" y="97"/>
                      <a:pt x="45304" y="85"/>
                    </a:cubicBezTo>
                    <a:cubicBezTo>
                      <a:pt x="44170" y="20"/>
                      <a:pt x="43032" y="1"/>
                      <a:pt x="418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243800" tIns="243800" rIns="243800" bIns="243800" anchor="ctr" anchorCtr="0"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sz="11733"/>
              </a:p>
            </p:txBody>
          </p:sp>
        </p:grpSp>
        <p:grpSp>
          <p:nvGrpSpPr>
            <p:cNvPr id="6190" name="Google Shape;2394;p38">
              <a:extLst>
                <a:ext uri="{FF2B5EF4-FFF2-40B4-BE49-F238E27FC236}">
                  <a16:creationId xmlns:a16="http://schemas.microsoft.com/office/drawing/2014/main" id="{A6533864-5D01-31E8-3210-654A2D253AF5}"/>
                </a:ext>
              </a:extLst>
            </p:cNvPr>
            <p:cNvGrpSpPr/>
            <p:nvPr/>
          </p:nvGrpSpPr>
          <p:grpSpPr>
            <a:xfrm>
              <a:off x="921775" y="3718040"/>
              <a:ext cx="1387041" cy="575861"/>
              <a:chOff x="442777" y="2651768"/>
              <a:chExt cx="1302753" cy="575861"/>
            </a:xfrm>
          </p:grpSpPr>
          <p:sp>
            <p:nvSpPr>
              <p:cNvPr id="6191" name="Google Shape;2395;p38">
                <a:extLst>
                  <a:ext uri="{FF2B5EF4-FFF2-40B4-BE49-F238E27FC236}">
                    <a16:creationId xmlns:a16="http://schemas.microsoft.com/office/drawing/2014/main" id="{0BCC0D27-7369-52D1-AFAF-43D7D3ADAF24}"/>
                  </a:ext>
                </a:extLst>
              </p:cNvPr>
              <p:cNvSpPr txBox="1"/>
              <p:nvPr/>
            </p:nvSpPr>
            <p:spPr>
              <a:xfrm>
                <a:off x="442777" y="2651768"/>
                <a:ext cx="1296000" cy="2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43800" rIns="0" bIns="24380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</a:pPr>
                <a:endParaRPr sz="11733" b="1" dirty="0">
                  <a:solidFill>
                    <a:schemeClr val="accent4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6192" name="Google Shape;2396;p38">
                <a:extLst>
                  <a:ext uri="{FF2B5EF4-FFF2-40B4-BE49-F238E27FC236}">
                    <a16:creationId xmlns:a16="http://schemas.microsoft.com/office/drawing/2014/main" id="{9522224D-E233-1842-5699-9832819C8197}"/>
                  </a:ext>
                </a:extLst>
              </p:cNvPr>
              <p:cNvSpPr txBox="1"/>
              <p:nvPr/>
            </p:nvSpPr>
            <p:spPr>
              <a:xfrm>
                <a:off x="449530" y="2785429"/>
                <a:ext cx="1296000" cy="442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243800" rIns="0" bIns="243800" anchor="ctr" anchorCtr="0">
                <a:noAutofit/>
              </a:bodyPr>
              <a:lstStyle/>
              <a:p>
                <a:pPr algn="ctr">
                  <a:spcBef>
                    <a:spcPts val="0"/>
                  </a:spcBef>
                </a:pPr>
                <a:r>
                  <a:rPr lang="en-US" sz="3200" dirty="0" err="1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Whatever_Error</a:t>
                </a:r>
                <a:r>
                  <a:rPr lang="en-US" sz="3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(LASSO) </a:t>
                </a:r>
              </a:p>
              <a:p>
                <a:pPr algn="ctr">
                  <a:spcBef>
                    <a:spcPts val="0"/>
                  </a:spcBef>
                </a:pPr>
                <a:r>
                  <a:rPr lang="en-US" sz="3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&lt; </a:t>
                </a:r>
              </a:p>
              <a:p>
                <a:pPr algn="ctr">
                  <a:spcBef>
                    <a:spcPts val="0"/>
                  </a:spcBef>
                </a:pPr>
                <a:r>
                  <a:rPr lang="en-US" sz="3200" dirty="0" err="1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Whatever_Error</a:t>
                </a:r>
                <a:r>
                  <a:rPr lang="en-US" sz="3200" dirty="0">
                    <a:solidFill>
                      <a:schemeClr val="tx1"/>
                    </a:solidFill>
                    <a:latin typeface="Roboto"/>
                    <a:ea typeface="Roboto"/>
                    <a:cs typeface="Roboto"/>
                    <a:sym typeface="Roboto"/>
                  </a:rPr>
                  <a:t>(OLS)</a:t>
                </a:r>
              </a:p>
            </p:txBody>
          </p:sp>
        </p:grpSp>
      </p:grpSp>
      <p:grpSp>
        <p:nvGrpSpPr>
          <p:cNvPr id="6197" name="Google Shape;2353;p38">
            <a:extLst>
              <a:ext uri="{FF2B5EF4-FFF2-40B4-BE49-F238E27FC236}">
                <a16:creationId xmlns:a16="http://schemas.microsoft.com/office/drawing/2014/main" id="{D2176A1D-BFA1-7A9C-03AA-7F7DAC45ABC9}"/>
              </a:ext>
            </a:extLst>
          </p:cNvPr>
          <p:cNvGrpSpPr/>
          <p:nvPr/>
        </p:nvGrpSpPr>
        <p:grpSpPr>
          <a:xfrm rot="14952057">
            <a:off x="19689377" y="7895311"/>
            <a:ext cx="791400" cy="388939"/>
            <a:chOff x="2759375" y="2507427"/>
            <a:chExt cx="1165650" cy="521099"/>
          </a:xfrm>
        </p:grpSpPr>
        <p:sp>
          <p:nvSpPr>
            <p:cNvPr id="6198" name="Google Shape;2354;p38">
              <a:extLst>
                <a:ext uri="{FF2B5EF4-FFF2-40B4-BE49-F238E27FC236}">
                  <a16:creationId xmlns:a16="http://schemas.microsoft.com/office/drawing/2014/main" id="{EB22F192-C505-29C8-D790-AF7E21315DFF}"/>
                </a:ext>
              </a:extLst>
            </p:cNvPr>
            <p:cNvSpPr/>
            <p:nvPr/>
          </p:nvSpPr>
          <p:spPr>
            <a:xfrm>
              <a:off x="2801911" y="2594659"/>
              <a:ext cx="1123114" cy="433867"/>
            </a:xfrm>
            <a:custGeom>
              <a:avLst/>
              <a:gdLst/>
              <a:ahLst/>
              <a:cxnLst/>
              <a:rect l="l" t="t" r="r" b="b"/>
              <a:pathLst>
                <a:path w="34325" h="13260" extrusionOk="0">
                  <a:moveTo>
                    <a:pt x="149" y="1"/>
                  </a:moveTo>
                  <a:cubicBezTo>
                    <a:pt x="36" y="1"/>
                    <a:pt x="1" y="180"/>
                    <a:pt x="129" y="234"/>
                  </a:cubicBezTo>
                  <a:lnTo>
                    <a:pt x="117" y="234"/>
                  </a:lnTo>
                  <a:cubicBezTo>
                    <a:pt x="5737" y="2484"/>
                    <a:pt x="11405" y="4615"/>
                    <a:pt x="17048" y="6770"/>
                  </a:cubicBezTo>
                  <a:cubicBezTo>
                    <a:pt x="22704" y="8937"/>
                    <a:pt x="28335" y="11128"/>
                    <a:pt x="34003" y="13247"/>
                  </a:cubicBezTo>
                  <a:cubicBezTo>
                    <a:pt x="34026" y="13255"/>
                    <a:pt x="34048" y="13259"/>
                    <a:pt x="34068" y="13259"/>
                  </a:cubicBezTo>
                  <a:cubicBezTo>
                    <a:pt x="34258" y="13259"/>
                    <a:pt x="34325" y="12940"/>
                    <a:pt x="34110" y="12854"/>
                  </a:cubicBezTo>
                  <a:cubicBezTo>
                    <a:pt x="28478" y="10652"/>
                    <a:pt x="22811" y="8533"/>
                    <a:pt x="17155" y="6389"/>
                  </a:cubicBezTo>
                  <a:cubicBezTo>
                    <a:pt x="11500" y="4246"/>
                    <a:pt x="5868" y="2067"/>
                    <a:pt x="189" y="8"/>
                  </a:cubicBezTo>
                  <a:cubicBezTo>
                    <a:pt x="175" y="3"/>
                    <a:pt x="162" y="1"/>
                    <a:pt x="149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 dirty="0"/>
            </a:p>
          </p:txBody>
        </p:sp>
        <p:sp>
          <p:nvSpPr>
            <p:cNvPr id="6199" name="Google Shape;2355;p38">
              <a:extLst>
                <a:ext uri="{FF2B5EF4-FFF2-40B4-BE49-F238E27FC236}">
                  <a16:creationId xmlns:a16="http://schemas.microsoft.com/office/drawing/2014/main" id="{50B69D9E-AB55-C49D-A341-E800F1317DC3}"/>
                </a:ext>
              </a:extLst>
            </p:cNvPr>
            <p:cNvSpPr/>
            <p:nvPr/>
          </p:nvSpPr>
          <p:spPr>
            <a:xfrm>
              <a:off x="2759375" y="2507427"/>
              <a:ext cx="149956" cy="191739"/>
            </a:xfrm>
            <a:custGeom>
              <a:avLst/>
              <a:gdLst/>
              <a:ahLst/>
              <a:cxnLst/>
              <a:rect l="l" t="t" r="r" b="b"/>
              <a:pathLst>
                <a:path w="4583" h="5860" extrusionOk="0">
                  <a:moveTo>
                    <a:pt x="4404" y="1"/>
                  </a:moveTo>
                  <a:cubicBezTo>
                    <a:pt x="4377" y="1"/>
                    <a:pt x="4348" y="10"/>
                    <a:pt x="4323" y="30"/>
                  </a:cubicBezTo>
                  <a:cubicBezTo>
                    <a:pt x="3037" y="1126"/>
                    <a:pt x="1834" y="2233"/>
                    <a:pt x="108" y="2495"/>
                  </a:cubicBezTo>
                  <a:cubicBezTo>
                    <a:pt x="24" y="2519"/>
                    <a:pt x="1" y="2614"/>
                    <a:pt x="48" y="2674"/>
                  </a:cubicBezTo>
                  <a:cubicBezTo>
                    <a:pt x="1132" y="3567"/>
                    <a:pt x="2060" y="4638"/>
                    <a:pt x="2810" y="5817"/>
                  </a:cubicBezTo>
                  <a:cubicBezTo>
                    <a:pt x="2826" y="5847"/>
                    <a:pt x="2849" y="5859"/>
                    <a:pt x="2873" y="5859"/>
                  </a:cubicBezTo>
                  <a:cubicBezTo>
                    <a:pt x="2923" y="5859"/>
                    <a:pt x="2974" y="5802"/>
                    <a:pt x="2941" y="5745"/>
                  </a:cubicBezTo>
                  <a:cubicBezTo>
                    <a:pt x="2230" y="4571"/>
                    <a:pt x="1326" y="3622"/>
                    <a:pt x="361" y="2674"/>
                  </a:cubicBezTo>
                  <a:lnTo>
                    <a:pt x="361" y="2674"/>
                  </a:lnTo>
                  <a:cubicBezTo>
                    <a:pt x="1992" y="2386"/>
                    <a:pt x="3306" y="1335"/>
                    <a:pt x="4489" y="209"/>
                  </a:cubicBezTo>
                  <a:cubicBezTo>
                    <a:pt x="4582" y="116"/>
                    <a:pt x="4501" y="1"/>
                    <a:pt x="4404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1733"/>
            </a:p>
          </p:txBody>
        </p:sp>
      </p:grpSp>
    </p:spTree>
    <p:extLst>
      <p:ext uri="{BB962C8B-B14F-4D97-AF65-F5344CB8AC3E}">
        <p14:creationId xmlns:p14="http://schemas.microsoft.com/office/powerpoint/2010/main" val="409705543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A0B5-271F-E7CB-0BBC-514E171D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21945600" cy="2004759"/>
          </a:xfrm>
        </p:spPr>
        <p:txBody>
          <a:bodyPr>
            <a:normAutofit/>
          </a:bodyPr>
          <a:lstStyle/>
          <a:p>
            <a:pPr algn="l"/>
            <a:r>
              <a:rPr lang="en-US" sz="7600" dirty="0">
                <a:latin typeface="+mj-lt"/>
              </a:rPr>
              <a:t>The First Red Flag: Multi-collinearity</a:t>
            </a:r>
            <a:br>
              <a:rPr lang="en-US" sz="3000" dirty="0">
                <a:latin typeface="+mj-lt"/>
              </a:rPr>
            </a:br>
            <a:r>
              <a:rPr lang="en-US" sz="3000" dirty="0">
                <a:latin typeface="+mj-lt"/>
              </a:rPr>
              <a:t> </a:t>
            </a:r>
            <a:br>
              <a:rPr lang="en-US" sz="3000" dirty="0">
                <a:latin typeface="+mj-lt"/>
              </a:rPr>
            </a:br>
            <a:r>
              <a:rPr lang="en-US" sz="4000" dirty="0">
                <a:solidFill>
                  <a:schemeClr val="bg2"/>
                </a:solidFill>
                <a:latin typeface="Canela" pitchFamily="2" charset="77"/>
              </a:rPr>
              <a:t>I  want: </a:t>
            </a:r>
            <a:r>
              <a:rPr lang="en-US" sz="4000" dirty="0">
                <a:solidFill>
                  <a:srgbClr val="521B93"/>
                </a:solidFill>
                <a:latin typeface="Canela" pitchFamily="2" charset="77"/>
              </a:rPr>
              <a:t>VIF(a linear model) &lt; 5, ideally ~ 1  to  2 </a:t>
            </a:r>
            <a:r>
              <a:rPr lang="en-US" sz="4000" dirty="0">
                <a:solidFill>
                  <a:srgbClr val="C1C1C1"/>
                </a:solidFill>
                <a:latin typeface="Canela" pitchFamily="2" charset="77"/>
              </a:rPr>
              <a:t>,</a:t>
            </a:r>
            <a:r>
              <a:rPr lang="en-US" sz="4000" dirty="0">
                <a:solidFill>
                  <a:srgbClr val="FF0000"/>
                </a:solidFill>
                <a:latin typeface="Canela" pitchFamily="2" charset="77"/>
              </a:rPr>
              <a:t> find how much should I penalize for the LASSO</a:t>
            </a:r>
            <a:endParaRPr lang="en-US" sz="4000" dirty="0">
              <a:latin typeface="Canela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09395-1FE2-E933-6062-14C19F5CA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269073"/>
            <a:ext cx="24384000" cy="11446923"/>
          </a:xfrm>
        </p:spPr>
        <p:txBody>
          <a:bodyPr>
            <a:normAutofit/>
          </a:bodyPr>
          <a:lstStyle/>
          <a:p>
            <a:r>
              <a:rPr lang="en-US" dirty="0"/>
              <a:t>Idea:</a:t>
            </a:r>
          </a:p>
          <a:p>
            <a:pPr lvl="1"/>
            <a:r>
              <a:rPr lang="en-US" dirty="0"/>
              <a:t>VIF = 1 / (1 – R^2)</a:t>
            </a:r>
          </a:p>
          <a:p>
            <a:pPr lvl="1"/>
            <a:r>
              <a:rPr lang="en-US" dirty="0"/>
              <a:t>R^2 is how much variance of </a:t>
            </a:r>
            <a:r>
              <a:rPr lang="en-US" dirty="0" err="1"/>
              <a:t>actual_y</a:t>
            </a:r>
            <a:r>
              <a:rPr lang="en-US" dirty="0"/>
              <a:t> (represented by SST) are from </a:t>
            </a:r>
            <a:r>
              <a:rPr lang="en-US" dirty="0" err="1"/>
              <a:t>predicted_y</a:t>
            </a:r>
            <a:r>
              <a:rPr lang="en-US" dirty="0"/>
              <a:t> (</a:t>
            </a:r>
            <a:r>
              <a:rPr lang="en-US" dirty="0" err="1"/>
              <a:t>SSReg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Geometrically: </a:t>
            </a:r>
          </a:p>
          <a:p>
            <a:pPr marL="4368800" lvl="8" indent="0">
              <a:buNone/>
            </a:pPr>
            <a:r>
              <a:rPr lang="en-US" sz="3500" dirty="0"/>
              <a:t>                                   </a:t>
            </a:r>
            <a:r>
              <a:rPr lang="en-US" dirty="0"/>
              <a:t>=&gt;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SSReg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=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cov</a:t>
            </a:r>
            <a:r>
              <a:rPr lang="en-US" b="1" dirty="0" err="1">
                <a:solidFill>
                  <a:srgbClr val="111111"/>
                </a:solidFill>
                <a:latin typeface="-apple-system"/>
              </a:rPr>
              <a:t>_mat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(y, X)^T @ </a:t>
            </a:r>
            <a:r>
              <a:rPr lang="en-US" b="1" dirty="0" err="1">
                <a:solidFill>
                  <a:srgbClr val="111111"/>
                </a:solidFill>
                <a:latin typeface="-apple-system"/>
              </a:rPr>
              <a:t>cov_mat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(X) @ </a:t>
            </a:r>
            <a:r>
              <a:rPr lang="en-US" b="1" dirty="0" err="1">
                <a:solidFill>
                  <a:srgbClr val="111111"/>
                </a:solidFill>
                <a:latin typeface="-apple-system"/>
              </a:rPr>
              <a:t>cov_mat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(y, X)</a:t>
            </a:r>
            <a:endParaRPr lang="en-US" dirty="0"/>
          </a:p>
          <a:p>
            <a:pPr marL="4368800" lvl="8" indent="0">
              <a:buNone/>
            </a:pPr>
            <a:r>
              <a:rPr lang="en-US" dirty="0"/>
              <a:t>                            =&gt; 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SST = </a:t>
            </a:r>
            <a:r>
              <a:rPr lang="en-US" b="1" dirty="0" err="1">
                <a:solidFill>
                  <a:srgbClr val="111111"/>
                </a:solidFill>
                <a:latin typeface="-apple-system"/>
              </a:rPr>
              <a:t>cov_mat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(y)</a:t>
            </a:r>
          </a:p>
          <a:p>
            <a:pPr marL="4368800" lvl="8" indent="0">
              <a:buNone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                            =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&gt; R^2 =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SSReg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/ 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SST =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SSReg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@ 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SST^-1</a:t>
            </a:r>
          </a:p>
          <a:p>
            <a:pPr marL="4368800" lvl="8" indent="0">
              <a:buNone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                                           =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cov</a:t>
            </a:r>
            <a:r>
              <a:rPr lang="en-US" b="1" dirty="0" err="1">
                <a:solidFill>
                  <a:srgbClr val="111111"/>
                </a:solidFill>
                <a:latin typeface="-apple-system"/>
              </a:rPr>
              <a:t>_mat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(y, X)^T @ </a:t>
            </a:r>
            <a:r>
              <a:rPr lang="en-US" b="1" dirty="0" err="1">
                <a:solidFill>
                  <a:srgbClr val="111111"/>
                </a:solidFill>
                <a:latin typeface="-apple-system"/>
              </a:rPr>
              <a:t>cov_mat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(X)^-1 @ </a:t>
            </a:r>
            <a:r>
              <a:rPr lang="en-US" b="1" dirty="0" err="1">
                <a:solidFill>
                  <a:srgbClr val="111111"/>
                </a:solidFill>
                <a:latin typeface="-apple-system"/>
              </a:rPr>
              <a:t>cov_mat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(y, X)</a:t>
            </a:r>
          </a:p>
          <a:p>
            <a:pPr marL="4368800" lvl="8" indent="0">
              <a:buNone/>
            </a:pPr>
            <a:r>
              <a:rPr lang="en-US" b="1" dirty="0">
                <a:solidFill>
                  <a:srgbClr val="111111"/>
                </a:solidFill>
                <a:latin typeface="-apple-system"/>
              </a:rPr>
              <a:t>                             =&gt; VIF = 1 / (1 – R^2) =&gt; </a:t>
            </a:r>
            <a:r>
              <a:rPr lang="en-US" b="1" dirty="0" err="1">
                <a:solidFill>
                  <a:srgbClr val="111111"/>
                </a:solidFill>
                <a:latin typeface="-apple-system"/>
              </a:rPr>
              <a:t>cov_mat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(X)^-1 = F(</a:t>
            </a:r>
            <a:r>
              <a:rPr lang="en-US" b="1" dirty="0" err="1">
                <a:solidFill>
                  <a:srgbClr val="111111"/>
                </a:solidFill>
                <a:latin typeface="-apple-system"/>
              </a:rPr>
              <a:t>cov_mat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(X))</a:t>
            </a:r>
          </a:p>
          <a:p>
            <a:pPr marL="4368800" lvl="8" indent="0">
              <a:buNone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                            =&gt; </a:t>
            </a:r>
            <a:r>
              <a:rPr lang="en-US" b="1" i="0" dirty="0" err="1">
                <a:solidFill>
                  <a:srgbClr val="111111"/>
                </a:solidFill>
                <a:effectLst/>
                <a:latin typeface="-apple-system"/>
              </a:rPr>
              <a:t>VIF</a:t>
            </a:r>
            <a:r>
              <a:rPr lang="en-US" b="1" dirty="0" err="1">
                <a:solidFill>
                  <a:srgbClr val="111111"/>
                </a:solidFill>
                <a:latin typeface="-apple-system"/>
              </a:rPr>
              <a:t>_regularization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 = F(</a:t>
            </a:r>
            <a:r>
              <a:rPr lang="en-US" b="1" dirty="0" err="1">
                <a:solidFill>
                  <a:srgbClr val="111111"/>
                </a:solidFill>
                <a:latin typeface="-apple-system"/>
              </a:rPr>
              <a:t>cov_mat</a:t>
            </a:r>
            <a:r>
              <a:rPr lang="en-US" b="1" dirty="0">
                <a:solidFill>
                  <a:srgbClr val="111111"/>
                </a:solidFill>
                <a:latin typeface="-apple-system"/>
              </a:rPr>
              <a:t>(X) + lambda * I)</a:t>
            </a:r>
          </a:p>
          <a:p>
            <a:pPr marL="4368800" lvl="8" indent="0">
              <a:buNone/>
            </a:pP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                       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53927-AAF5-2744-50C3-A7D5B0709DBF}"/>
              </a:ext>
            </a:extLst>
          </p:cNvPr>
          <p:cNvCxnSpPr/>
          <p:nvPr/>
        </p:nvCxnSpPr>
        <p:spPr>
          <a:xfrm>
            <a:off x="0" y="1767691"/>
            <a:ext cx="2438400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0246" name="Picture 6">
            <a:extLst>
              <a:ext uri="{FF2B5EF4-FFF2-40B4-BE49-F238E27FC236}">
                <a16:creationId xmlns:a16="http://schemas.microsoft.com/office/drawing/2014/main" id="{57FCAEF5-BB02-E20C-51FD-CCD09CF36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33" y="6250977"/>
            <a:ext cx="7135283" cy="51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69442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A0B5-271F-E7CB-0BBC-514E171D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21945600" cy="2004759"/>
          </a:xfrm>
        </p:spPr>
        <p:txBody>
          <a:bodyPr>
            <a:normAutofit/>
          </a:bodyPr>
          <a:lstStyle/>
          <a:p>
            <a:pPr algn="l"/>
            <a:r>
              <a:rPr lang="en-US" sz="7600" dirty="0">
                <a:latin typeface="+mj-lt"/>
              </a:rPr>
              <a:t>The First Red Flag: Multi-collinearity</a:t>
            </a:r>
            <a:br>
              <a:rPr lang="en-US" sz="3000" dirty="0">
                <a:latin typeface="+mj-lt"/>
              </a:rPr>
            </a:br>
            <a:r>
              <a:rPr lang="en-US" sz="3000" dirty="0">
                <a:latin typeface="+mj-lt"/>
              </a:rPr>
              <a:t> </a:t>
            </a:r>
            <a:br>
              <a:rPr lang="en-US" sz="3000" dirty="0">
                <a:latin typeface="+mj-lt"/>
              </a:rPr>
            </a:br>
            <a:r>
              <a:rPr lang="en-US" sz="4000" dirty="0">
                <a:solidFill>
                  <a:schemeClr val="bg2"/>
                </a:solidFill>
                <a:latin typeface="Canela" pitchFamily="2" charset="77"/>
              </a:rPr>
              <a:t>I  want: </a:t>
            </a:r>
            <a:r>
              <a:rPr lang="en-US" sz="4000" dirty="0">
                <a:solidFill>
                  <a:srgbClr val="521B93"/>
                </a:solidFill>
                <a:latin typeface="Canela" pitchFamily="2" charset="77"/>
              </a:rPr>
              <a:t>VIF(a linear model) &lt; 5, ideally ~ 1  to  2 </a:t>
            </a:r>
            <a:r>
              <a:rPr lang="en-US" sz="4000" dirty="0">
                <a:solidFill>
                  <a:srgbClr val="C1C1C1"/>
                </a:solidFill>
                <a:latin typeface="Canela" pitchFamily="2" charset="77"/>
              </a:rPr>
              <a:t>,</a:t>
            </a:r>
            <a:r>
              <a:rPr lang="en-US" sz="4000" dirty="0">
                <a:solidFill>
                  <a:srgbClr val="FF0000"/>
                </a:solidFill>
                <a:latin typeface="Canela" pitchFamily="2" charset="77"/>
              </a:rPr>
              <a:t> find how much should I penalize for the LASSO</a:t>
            </a:r>
            <a:endParaRPr lang="en-US" sz="4000" dirty="0">
              <a:latin typeface="Canela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09395-1FE2-E933-6062-14C19F5CA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269073"/>
            <a:ext cx="24384000" cy="11446923"/>
          </a:xfrm>
        </p:spPr>
        <p:txBody>
          <a:bodyPr>
            <a:normAutofit/>
          </a:bodyPr>
          <a:lstStyle/>
          <a:p>
            <a:r>
              <a:rPr lang="en-US" dirty="0"/>
              <a:t>Idea: </a:t>
            </a:r>
            <a:r>
              <a:rPr lang="en-US" i="0" dirty="0">
                <a:solidFill>
                  <a:srgbClr val="111111"/>
                </a:solidFill>
                <a:effectLst/>
                <a:latin typeface="-apple-system"/>
              </a:rPr>
              <a:t>Proof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53927-AAF5-2744-50C3-A7D5B0709DBF}"/>
              </a:ext>
            </a:extLst>
          </p:cNvPr>
          <p:cNvCxnSpPr/>
          <p:nvPr/>
        </p:nvCxnSpPr>
        <p:spPr>
          <a:xfrm>
            <a:off x="0" y="1767691"/>
            <a:ext cx="2438400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4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79300E2E-CF1E-66D6-5FFF-B573900F5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49" y="3772450"/>
            <a:ext cx="12309924" cy="8141224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A58BFB9-BF60-AC90-95E4-4120A5285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150" y="3857885"/>
            <a:ext cx="8384525" cy="814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9143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A0B5-271F-E7CB-0BBC-514E171DD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21945600" cy="2004759"/>
          </a:xfrm>
        </p:spPr>
        <p:txBody>
          <a:bodyPr>
            <a:normAutofit/>
          </a:bodyPr>
          <a:lstStyle/>
          <a:p>
            <a:pPr algn="l"/>
            <a:r>
              <a:rPr lang="en-US" sz="7600" dirty="0">
                <a:latin typeface="+mj-lt"/>
              </a:rPr>
              <a:t>Red Flag: Multi-collinearity</a:t>
            </a:r>
            <a:br>
              <a:rPr lang="en-US" sz="3000" dirty="0">
                <a:latin typeface="+mj-lt"/>
              </a:rPr>
            </a:br>
            <a:r>
              <a:rPr lang="en-US" sz="3000" dirty="0">
                <a:latin typeface="+mj-lt"/>
              </a:rPr>
              <a:t> </a:t>
            </a:r>
            <a:br>
              <a:rPr lang="en-US" sz="3000" dirty="0">
                <a:latin typeface="+mj-lt"/>
              </a:rPr>
            </a:br>
            <a:r>
              <a:rPr lang="en-US" sz="4000" dirty="0">
                <a:solidFill>
                  <a:schemeClr val="bg2"/>
                </a:solidFill>
                <a:latin typeface="Canela" pitchFamily="2" charset="77"/>
              </a:rPr>
              <a:t>I  want: </a:t>
            </a:r>
            <a:r>
              <a:rPr lang="en-US" sz="4000" dirty="0">
                <a:solidFill>
                  <a:srgbClr val="521B93"/>
                </a:solidFill>
                <a:latin typeface="Canela" pitchFamily="2" charset="77"/>
              </a:rPr>
              <a:t>VIF(a linear model) &lt; 5, ideally ~ 1  to  2 </a:t>
            </a:r>
            <a:r>
              <a:rPr lang="en-US" sz="4000" dirty="0">
                <a:solidFill>
                  <a:srgbClr val="C1C1C1"/>
                </a:solidFill>
                <a:latin typeface="Canela" pitchFamily="2" charset="77"/>
              </a:rPr>
              <a:t>,</a:t>
            </a:r>
            <a:r>
              <a:rPr lang="en-US" sz="4000" dirty="0">
                <a:solidFill>
                  <a:srgbClr val="FF0000"/>
                </a:solidFill>
                <a:latin typeface="Canela" pitchFamily="2" charset="77"/>
              </a:rPr>
              <a:t> find how much should I penalize for the LASSO</a:t>
            </a:r>
            <a:endParaRPr lang="en-US" sz="4000" dirty="0">
              <a:latin typeface="Canela" pitchFamily="2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09395-1FE2-E933-6062-14C19F5CA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269073"/>
            <a:ext cx="24384000" cy="11446923"/>
          </a:xfrm>
        </p:spPr>
        <p:txBody>
          <a:bodyPr>
            <a:normAutofit/>
          </a:bodyPr>
          <a:lstStyle/>
          <a:p>
            <a:r>
              <a:rPr lang="en-US" dirty="0"/>
              <a:t>Idea:</a:t>
            </a:r>
            <a:endParaRPr lang="en-US" b="1" dirty="0">
              <a:solidFill>
                <a:srgbClr val="111111"/>
              </a:solidFill>
              <a:latin typeface="-apple-system"/>
            </a:endParaRPr>
          </a:p>
          <a:p>
            <a:pPr lvl="1"/>
            <a:r>
              <a:rPr lang="en-US" dirty="0"/>
              <a:t>Generate a list of penalties (lambdas)</a:t>
            </a:r>
          </a:p>
          <a:p>
            <a:pPr lvl="1"/>
            <a:r>
              <a:rPr lang="en-US" dirty="0"/>
              <a:t>Find the smallest lambda that VIF table has &gt; 0 rows, </a:t>
            </a:r>
            <a:r>
              <a:rPr lang="en-US" i="0" dirty="0">
                <a:solidFill>
                  <a:srgbClr val="111111"/>
                </a:solidFill>
                <a:effectLst/>
                <a:latin typeface="Canela" pitchFamily="2" charset="77"/>
              </a:rPr>
              <a:t>collect all the rows</a:t>
            </a:r>
            <a:endParaRPr lang="en-US" dirty="0">
              <a:solidFill>
                <a:srgbClr val="111111"/>
              </a:solidFill>
              <a:latin typeface="Canela" pitchFamily="2" charset="77"/>
            </a:endParaRPr>
          </a:p>
          <a:p>
            <a:pPr lvl="1"/>
            <a:r>
              <a:rPr lang="en-US" dirty="0">
                <a:solidFill>
                  <a:srgbClr val="111111"/>
                </a:solidFill>
                <a:latin typeface="Canela" pitchFamily="2" charset="77"/>
              </a:rPr>
              <a:t>F</a:t>
            </a:r>
            <a:r>
              <a:rPr lang="en-US" i="0" dirty="0">
                <a:solidFill>
                  <a:srgbClr val="111111"/>
                </a:solidFill>
                <a:effectLst/>
                <a:latin typeface="Canela" pitchFamily="2" charset="77"/>
              </a:rPr>
              <a:t>it eac</a:t>
            </a:r>
            <a:r>
              <a:rPr lang="en-US" dirty="0">
                <a:solidFill>
                  <a:srgbClr val="111111"/>
                </a:solidFill>
                <a:latin typeface="Canela" pitchFamily="2" charset="77"/>
              </a:rPr>
              <a:t>h row with a linear model, then pick the model having the lowest AIC.</a:t>
            </a:r>
          </a:p>
          <a:p>
            <a:pPr marL="546100" lvl="1" indent="0">
              <a:buNone/>
            </a:pPr>
            <a:r>
              <a:rPr lang="en-US" dirty="0">
                <a:solidFill>
                  <a:srgbClr val="111111"/>
                </a:solidFill>
                <a:latin typeface="Canela" pitchFamily="2" charset="77"/>
              </a:rPr>
              <a:t>=&gt; Reduced 2/3 of features</a:t>
            </a:r>
          </a:p>
          <a:p>
            <a:pPr marL="546100" lvl="1" indent="0">
              <a:buNone/>
            </a:pPr>
            <a:endParaRPr lang="en-US" i="0" dirty="0">
              <a:solidFill>
                <a:srgbClr val="111111"/>
              </a:solidFill>
              <a:effectLst/>
              <a:latin typeface="Canela" pitchFamily="2" charset="77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53927-AAF5-2744-50C3-A7D5B0709DBF}"/>
              </a:ext>
            </a:extLst>
          </p:cNvPr>
          <p:cNvCxnSpPr/>
          <p:nvPr/>
        </p:nvCxnSpPr>
        <p:spPr>
          <a:xfrm>
            <a:off x="0" y="1767691"/>
            <a:ext cx="24384000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AutoShape 2">
            <a:extLst>
              <a:ext uri="{FF2B5EF4-FFF2-40B4-BE49-F238E27FC236}">
                <a16:creationId xmlns:a16="http://schemas.microsoft.com/office/drawing/2014/main" id="{3D36932F-860C-2B9B-A5DE-BC480F7C5E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039600" y="6705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D49BB-3672-88B7-0CC8-0589B9C9F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4813" y="6175730"/>
            <a:ext cx="8366338" cy="51740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317011-EE1D-CB96-08D6-9CA3E09E195E}"/>
              </a:ext>
            </a:extLst>
          </p:cNvPr>
          <p:cNvSpPr txBox="1"/>
          <p:nvPr/>
        </p:nvSpPr>
        <p:spPr>
          <a:xfrm>
            <a:off x="8740140" y="11197130"/>
            <a:ext cx="10523220" cy="1936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nela Text Regular"/>
              </a:rPr>
              <a:t>Mean </a:t>
            </a:r>
            <a:r>
              <a:rPr kumimoji="0" lang="en-US" sz="4400" b="0" i="0" u="none" strike="noStrike" cap="none" spc="0" normalizeH="0" baseline="0" dirty="0">
                <a:ln>
                  <a:noFill/>
                </a:ln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nela Text Regular"/>
              </a:rPr>
              <a:t>Training</a:t>
            </a: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nela Text Regular"/>
              </a:rPr>
              <a:t> error = 4125.352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sz="4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nela Text Regular"/>
              </a:rPr>
              <a:t>ean Testing error = 4988.026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6081AE-DA38-985E-8740-F1D2A7BB6D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06" y="6858000"/>
            <a:ext cx="11631794" cy="401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4017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2139</TotalTime>
  <Words>932</Words>
  <Application>Microsoft Macintosh PowerPoint</Application>
  <PresentationFormat>Custom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-apple-system</vt:lpstr>
      <vt:lpstr>Canela</vt:lpstr>
      <vt:lpstr>Canela Bold</vt:lpstr>
      <vt:lpstr>Canela Deck Regular</vt:lpstr>
      <vt:lpstr>Canela Regular</vt:lpstr>
      <vt:lpstr>Canela Text Regular</vt:lpstr>
      <vt:lpstr>Fira Sans Extra Condensed</vt:lpstr>
      <vt:lpstr>Graphik</vt:lpstr>
      <vt:lpstr>Graphik-Medium</vt:lpstr>
      <vt:lpstr>Graphik-SemiboldItalic</vt:lpstr>
      <vt:lpstr>Helvetica Neue</vt:lpstr>
      <vt:lpstr>Roboto</vt:lpstr>
      <vt:lpstr>Times New Roman</vt:lpstr>
      <vt:lpstr>23_ClassicWhite</vt:lpstr>
      <vt:lpstr>Hoang</vt:lpstr>
      <vt:lpstr>PowerPoint Presentation</vt:lpstr>
      <vt:lpstr>Predicting Used 🚙 Value</vt:lpstr>
      <vt:lpstr>Explore Data: getting started</vt:lpstr>
      <vt:lpstr>Explore Data: welcoming “ the null”</vt:lpstr>
      <vt:lpstr>Explore Data: translating “the text”</vt:lpstr>
      <vt:lpstr>The Full Linear Model: preparing the ingredient</vt:lpstr>
      <vt:lpstr>The Full Linear Model</vt:lpstr>
      <vt:lpstr>The First Red Flag: Multi-collinearity   I  want: VIF(a linear model) &lt; 5, ideally ~ 1  to  2 </vt:lpstr>
      <vt:lpstr>The First Red Flag: Multi-collinearity   I  want: VIF(a linear model) &lt; 5, ideally ~ 1  to  2 , find how much should I penalize for the LASSO</vt:lpstr>
      <vt:lpstr>The First Red Flag: Multi-collinearity   I  want: VIF(a linear model) &lt; 5, ideally ~ 1  to  2 , find how much should I penalize for the LASSO</vt:lpstr>
      <vt:lpstr>Red Flag: Multi-collinearity   I  want: VIF(a linear model) &lt; 5, ideally ~ 1  to  2 , find how much should I penalize for the LASSO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Hoang</dc:title>
  <cp:lastModifiedBy>Hoang Chu</cp:lastModifiedBy>
  <cp:revision>55</cp:revision>
  <dcterms:modified xsi:type="dcterms:W3CDTF">2024-03-17T13:18:37Z</dcterms:modified>
</cp:coreProperties>
</file>